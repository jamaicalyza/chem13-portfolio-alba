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7772400" cy="7772400"/>
  <p:notesSz cx="6858000" cy="9144000"/>
  <p:embeddedFontLst>
    <p:embeddedFont>
      <p:font typeface="Glacial Indifference" charset="1" panose="00000000000000000000"/>
      <p:regular r:id="rId16"/>
    </p:embeddedFont>
    <p:embeddedFont>
      <p:font typeface="Wide" charset="1" panose="00000000000000000000"/>
      <p:regular r:id="rId17"/>
    </p:embeddedFont>
    <p:embeddedFont>
      <p:font typeface="Bernoru" charset="1" panose="00000A00000000000000"/>
      <p:regular r:id="rId18"/>
    </p:embeddedFont>
    <p:embeddedFont>
      <p:font typeface="Glacial Indifference Bold" charset="1" panose="00000800000000000000"/>
      <p:regular r:id="rId19"/>
    </p:embeddedFont>
    <p:embeddedFont>
      <p:font typeface="Gatwick" charset="1" panose="00000500000000000000"/>
      <p:regular r:id="rId20"/>
    </p:embeddedFont>
    <p:embeddedFont>
      <p:font typeface="Glacial Indifference Italics" charset="1" panose="00000000000000000000"/>
      <p:regular r:id="rId21"/>
    </p:embeddedFont>
    <p:embeddedFont>
      <p:font typeface="Gatwick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https://www.propane101.com/aboutpropane.htm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https://pubchem.ncbi.nlm.nih.gov/compound/nylon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en.wikipedia.org/wiki/Cyclohexanone" TargetMode="External" Type="http://schemas.openxmlformats.org/officeDocument/2006/relationships/hyperlink"/><Relationship Id="rId11" Target="https://chemcess.com/acetone/" TargetMode="External" Type="http://schemas.openxmlformats.org/officeDocument/2006/relationships/hyperlink"/><Relationship Id="rId12" Target="https://en.wikipedia.org/wiki/Cyclohexanone" TargetMode="External" Type="http://schemas.openxmlformats.org/officeDocument/2006/relationships/hyperlink"/><Relationship Id="rId13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7.png" Type="http://schemas.openxmlformats.org/officeDocument/2006/relationships/image"/><Relationship Id="rId7" Target="https://en.wikipedia.org/wiki/Cyclohexanone" TargetMode="External" Type="http://schemas.openxmlformats.org/officeDocument/2006/relationships/hyperlink"/><Relationship Id="rId8" Target="https://en.wikipedia.org/wiki/Cyclohexanone" TargetMode="External" Type="http://schemas.openxmlformats.org/officeDocument/2006/relationships/hyperlink"/><Relationship Id="rId9" Target="https://en.wikipedia.org/wiki/Cyclohexanone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medicinenet.com/aches_pain_fever/article.htm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https://www.medicinenet.com/drugs_what_you_should_know_about_your_drugs/article.htm" TargetMode="External" Type="http://schemas.openxmlformats.org/officeDocument/2006/relationships/hyperlink"/><Relationship Id="rId9" Target="https://www.medicinenet.com/pain_management/article.htm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https://pubchem.ncbi.nlm.nih.gov/compound/methylxanthine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4965" y="-8322"/>
            <a:ext cx="7789043" cy="7805687"/>
          </a:xfrm>
          <a:custGeom>
            <a:avLst/>
            <a:gdLst/>
            <a:ahLst/>
            <a:cxnLst/>
            <a:rect r="r" b="b" t="t" l="l"/>
            <a:pathLst>
              <a:path h="7805687" w="7789043">
                <a:moveTo>
                  <a:pt x="0" y="0"/>
                </a:moveTo>
                <a:lnTo>
                  <a:pt x="7789043" y="0"/>
                </a:lnTo>
                <a:lnTo>
                  <a:pt x="7789043" y="7805687"/>
                </a:lnTo>
                <a:lnTo>
                  <a:pt x="0" y="7805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460" t="-50154" r="0" b="-4954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3428" y="-34002"/>
            <a:ext cx="756374" cy="1070269"/>
            <a:chOff x="0" y="0"/>
            <a:chExt cx="1008499" cy="1427026"/>
          </a:xfrm>
        </p:grpSpPr>
        <p:sp>
          <p:nvSpPr>
            <p:cNvPr name="Freeform 4" id="4"/>
            <p:cNvSpPr/>
            <p:nvPr/>
          </p:nvSpPr>
          <p:spPr>
            <a:xfrm flipH="false" flipV="false" rot="5400000">
              <a:off x="63031" y="-63031"/>
              <a:ext cx="882436" cy="1008499"/>
            </a:xfrm>
            <a:custGeom>
              <a:avLst/>
              <a:gdLst/>
              <a:ahLst/>
              <a:cxnLst/>
              <a:rect r="r" b="b" t="t" l="l"/>
              <a:pathLst>
                <a:path h="1008499" w="882436">
                  <a:moveTo>
                    <a:pt x="0" y="0"/>
                  </a:moveTo>
                  <a:lnTo>
                    <a:pt x="882437" y="0"/>
                  </a:lnTo>
                  <a:lnTo>
                    <a:pt x="882437" y="1008499"/>
                  </a:lnTo>
                  <a:lnTo>
                    <a:pt x="0" y="1008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5400000">
              <a:off x="231955" y="650482"/>
              <a:ext cx="544589" cy="1008499"/>
            </a:xfrm>
            <a:custGeom>
              <a:avLst/>
              <a:gdLst/>
              <a:ahLst/>
              <a:cxnLst/>
              <a:rect r="r" b="b" t="t" l="l"/>
              <a:pathLst>
                <a:path h="1008499" w="544589">
                  <a:moveTo>
                    <a:pt x="0" y="0"/>
                  </a:moveTo>
                  <a:lnTo>
                    <a:pt x="544589" y="0"/>
                  </a:lnTo>
                  <a:lnTo>
                    <a:pt x="544589" y="1008499"/>
                  </a:lnTo>
                  <a:lnTo>
                    <a:pt x="0" y="1008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5711" y="1674423"/>
            <a:ext cx="3399849" cy="2483154"/>
            <a:chOff x="0" y="0"/>
            <a:chExt cx="845607" cy="6176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5607" cy="617608"/>
            </a:xfrm>
            <a:custGeom>
              <a:avLst/>
              <a:gdLst/>
              <a:ahLst/>
              <a:cxnLst/>
              <a:rect r="r" b="b" t="t" l="l"/>
              <a:pathLst>
                <a:path h="617608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7608"/>
                  </a:lnTo>
                  <a:lnTo>
                    <a:pt x="0" y="617608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845607" cy="646183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039741" y="1674423"/>
            <a:ext cx="3407388" cy="2492679"/>
            <a:chOff x="0" y="0"/>
            <a:chExt cx="847482" cy="6199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7482" cy="619977"/>
            </a:xfrm>
            <a:custGeom>
              <a:avLst/>
              <a:gdLst/>
              <a:ahLst/>
              <a:cxnLst/>
              <a:rect r="r" b="b" t="t" l="l"/>
              <a:pathLst>
                <a:path h="61997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9977"/>
                  </a:lnTo>
                  <a:lnTo>
                    <a:pt x="0" y="61997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847482" cy="64855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031634" y="4581757"/>
            <a:ext cx="3407388" cy="2479494"/>
            <a:chOff x="0" y="0"/>
            <a:chExt cx="847482" cy="6166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7482" cy="616697"/>
            </a:xfrm>
            <a:custGeom>
              <a:avLst/>
              <a:gdLst/>
              <a:ahLst/>
              <a:cxnLst/>
              <a:rect r="r" b="b" t="t" l="l"/>
              <a:pathLst>
                <a:path h="61669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6697"/>
                  </a:lnTo>
                  <a:lnTo>
                    <a:pt x="0" y="61669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847482" cy="64527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5711" y="4581757"/>
            <a:ext cx="3399849" cy="2465404"/>
            <a:chOff x="0" y="0"/>
            <a:chExt cx="845607" cy="6131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5607" cy="613193"/>
            </a:xfrm>
            <a:custGeom>
              <a:avLst/>
              <a:gdLst/>
              <a:ahLst/>
              <a:cxnLst/>
              <a:rect r="r" b="b" t="t" l="l"/>
              <a:pathLst>
                <a:path h="613193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3193"/>
                  </a:lnTo>
                  <a:lnTo>
                    <a:pt x="0" y="613193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45607" cy="641768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92" y="7283934"/>
            <a:ext cx="7743678" cy="513413"/>
            <a:chOff x="0" y="0"/>
            <a:chExt cx="2108845" cy="1398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08845" cy="139818"/>
            </a:xfrm>
            <a:custGeom>
              <a:avLst/>
              <a:gdLst/>
              <a:ahLst/>
              <a:cxnLst/>
              <a:rect r="r" b="b" t="t" l="l"/>
              <a:pathLst>
                <a:path h="139818" w="2108845">
                  <a:moveTo>
                    <a:pt x="0" y="0"/>
                  </a:moveTo>
                  <a:lnTo>
                    <a:pt x="2108845" y="0"/>
                  </a:lnTo>
                  <a:lnTo>
                    <a:pt x="2108845" y="139818"/>
                  </a:lnTo>
                  <a:lnTo>
                    <a:pt x="0" y="139818"/>
                  </a:lnTo>
                  <a:close/>
                </a:path>
              </a:pathLst>
            </a:custGeom>
            <a:solidFill>
              <a:srgbClr val="454B1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108845" cy="168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2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54759" y="7451105"/>
            <a:ext cx="1248840" cy="179070"/>
            <a:chOff x="0" y="0"/>
            <a:chExt cx="1665120" cy="238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298748" y="-19050"/>
              <a:ext cx="136637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atom count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353998" y="7451105"/>
            <a:ext cx="1023487" cy="179070"/>
            <a:chOff x="0" y="0"/>
            <a:chExt cx="1364649" cy="238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298748" y="-19050"/>
              <a:ext cx="106590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valence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336988" y="7451105"/>
            <a:ext cx="1743397" cy="179070"/>
            <a:chOff x="0" y="0"/>
            <a:chExt cx="2324529" cy="2387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connectivity consistent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43404" y="7451105"/>
            <a:ext cx="1743397" cy="179070"/>
            <a:chOff x="0" y="0"/>
            <a:chExt cx="2324529" cy="2387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skeletal notation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486650" y="7451105"/>
            <a:ext cx="1743397" cy="179070"/>
            <a:chOff x="0" y="0"/>
            <a:chExt cx="2324529" cy="2387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IUPAC name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4910843" y="5585344"/>
            <a:ext cx="1589365" cy="520958"/>
          </a:xfrm>
          <a:custGeom>
            <a:avLst/>
            <a:gdLst/>
            <a:ahLst/>
            <a:cxnLst/>
            <a:rect r="r" b="b" t="t" l="l"/>
            <a:pathLst>
              <a:path h="520958" w="1589365">
                <a:moveTo>
                  <a:pt x="0" y="0"/>
                </a:moveTo>
                <a:lnTo>
                  <a:pt x="1589364" y="0"/>
                </a:lnTo>
                <a:lnTo>
                  <a:pt x="1589364" y="520958"/>
                </a:lnTo>
                <a:lnTo>
                  <a:pt x="0" y="520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3477366" y="144727"/>
            <a:ext cx="4099070" cy="56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1"/>
              </a:lnSpc>
              <a:spcBef>
                <a:spcPct val="0"/>
              </a:spcBef>
            </a:pPr>
            <a:r>
              <a:rPr lang="en-US" sz="3258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Propane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63818" y="1440743"/>
            <a:ext cx="2908830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MOLECULAR FORMULA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046075" y="1440743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LEWIS STRUCTRE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55711" y="4348077"/>
            <a:ext cx="3675923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CONDENSED STRUCTURAL FORMULA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037967" y="4348077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BOND-LINE FORMULA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89085" y="22807"/>
            <a:ext cx="241482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</a:t>
            </a: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our different chemical languages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560303" y="707268"/>
            <a:ext cx="3933513" cy="452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48"/>
              </a:lnSpc>
              <a:spcBef>
                <a:spcPct val="0"/>
              </a:spcBef>
            </a:pP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Propane is a 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liquefied petroleum gas that comes out of both 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8" tooltip="https://www.propane101.com/aboutpropane.htm"/>
              </a:rPr>
              <a:t> oil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and gas wells.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-1931" y="2054378"/>
            <a:ext cx="3318264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C₃H₈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9101" y="5384307"/>
            <a:ext cx="3318264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072700" y="2705888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636385" y="2705888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200071" y="2705888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072700" y="2168678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647082" y="2170022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221464" y="2171366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221464" y="3226979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647082" y="3226979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072700" y="3226979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509272" y="2701126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776500" y="2701126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AutoShape 57" id="57"/>
          <p:cNvSpPr/>
          <p:nvPr/>
        </p:nvSpPr>
        <p:spPr>
          <a:xfrm>
            <a:off x="4746528" y="2931631"/>
            <a:ext cx="260511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>
            <a:off x="5319078" y="2931631"/>
            <a:ext cx="260511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5891628" y="2931631"/>
            <a:ext cx="260511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>
            <a:off x="6464178" y="2931631"/>
            <a:ext cx="260511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>
            <a:off x="6315823" y="3076411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5742871" y="3076411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>
            <a:off x="5169919" y="3076411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>
            <a:off x="5160394" y="2541198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>
            <a:off x="5743435" y="2541198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6326477" y="2541198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7" id="67"/>
          <p:cNvSpPr txBox="true"/>
          <p:nvPr/>
        </p:nvSpPr>
        <p:spPr>
          <a:xfrm rot="0">
            <a:off x="3560303" y="93292"/>
            <a:ext cx="3933513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492C18"/>
                </a:solidFill>
                <a:latin typeface="Gatwick"/>
                <a:ea typeface="Gatwick"/>
                <a:cs typeface="Gatwick"/>
                <a:sym typeface="Gatwick"/>
              </a:rPr>
              <a:t>IUPAC Name: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4965" y="-8322"/>
            <a:ext cx="7789043" cy="7805687"/>
          </a:xfrm>
          <a:custGeom>
            <a:avLst/>
            <a:gdLst/>
            <a:ahLst/>
            <a:cxnLst/>
            <a:rect r="r" b="b" t="t" l="l"/>
            <a:pathLst>
              <a:path h="7805687" w="7789043">
                <a:moveTo>
                  <a:pt x="0" y="0"/>
                </a:moveTo>
                <a:lnTo>
                  <a:pt x="7789043" y="0"/>
                </a:lnTo>
                <a:lnTo>
                  <a:pt x="7789043" y="7805687"/>
                </a:lnTo>
                <a:lnTo>
                  <a:pt x="0" y="7805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460" t="-50154" r="0" b="-4954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76154" y="-81276"/>
            <a:ext cx="661827" cy="756374"/>
          </a:xfrm>
          <a:custGeom>
            <a:avLst/>
            <a:gdLst/>
            <a:ahLst/>
            <a:cxnLst/>
            <a:rect r="r" b="b" t="t" l="l"/>
            <a:pathLst>
              <a:path h="756374" w="661827">
                <a:moveTo>
                  <a:pt x="0" y="0"/>
                </a:moveTo>
                <a:lnTo>
                  <a:pt x="661827" y="0"/>
                </a:lnTo>
                <a:lnTo>
                  <a:pt x="661827" y="756375"/>
                </a:lnTo>
                <a:lnTo>
                  <a:pt x="0" y="756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5711" y="1674423"/>
            <a:ext cx="3399849" cy="2483154"/>
            <a:chOff x="0" y="0"/>
            <a:chExt cx="845607" cy="61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5607" cy="617608"/>
            </a:xfrm>
            <a:custGeom>
              <a:avLst/>
              <a:gdLst/>
              <a:ahLst/>
              <a:cxnLst/>
              <a:rect r="r" b="b" t="t" l="l"/>
              <a:pathLst>
                <a:path h="617608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7608"/>
                  </a:lnTo>
                  <a:lnTo>
                    <a:pt x="0" y="617608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45607" cy="646183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39741" y="1674423"/>
            <a:ext cx="3407388" cy="2492679"/>
            <a:chOff x="0" y="0"/>
            <a:chExt cx="847482" cy="6199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7482" cy="619977"/>
            </a:xfrm>
            <a:custGeom>
              <a:avLst/>
              <a:gdLst/>
              <a:ahLst/>
              <a:cxnLst/>
              <a:rect r="r" b="b" t="t" l="l"/>
              <a:pathLst>
                <a:path h="61997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9977"/>
                  </a:lnTo>
                  <a:lnTo>
                    <a:pt x="0" y="61997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47482" cy="64855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31634" y="4581757"/>
            <a:ext cx="3407388" cy="2479494"/>
            <a:chOff x="0" y="0"/>
            <a:chExt cx="847482" cy="6166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7482" cy="616697"/>
            </a:xfrm>
            <a:custGeom>
              <a:avLst/>
              <a:gdLst/>
              <a:ahLst/>
              <a:cxnLst/>
              <a:rect r="r" b="b" t="t" l="l"/>
              <a:pathLst>
                <a:path h="61669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6697"/>
                  </a:lnTo>
                  <a:lnTo>
                    <a:pt x="0" y="61669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47482" cy="64527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5711" y="4581757"/>
            <a:ext cx="3399849" cy="2465404"/>
            <a:chOff x="0" y="0"/>
            <a:chExt cx="845607" cy="6131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5607" cy="613193"/>
            </a:xfrm>
            <a:custGeom>
              <a:avLst/>
              <a:gdLst/>
              <a:ahLst/>
              <a:cxnLst/>
              <a:rect r="r" b="b" t="t" l="l"/>
              <a:pathLst>
                <a:path h="613193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3193"/>
                  </a:lnTo>
                  <a:lnTo>
                    <a:pt x="0" y="613193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45607" cy="641768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92" y="7283934"/>
            <a:ext cx="7743678" cy="513413"/>
            <a:chOff x="0" y="0"/>
            <a:chExt cx="2108845" cy="1398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08845" cy="139818"/>
            </a:xfrm>
            <a:custGeom>
              <a:avLst/>
              <a:gdLst/>
              <a:ahLst/>
              <a:cxnLst/>
              <a:rect r="r" b="b" t="t" l="l"/>
              <a:pathLst>
                <a:path h="139818" w="2108845">
                  <a:moveTo>
                    <a:pt x="0" y="0"/>
                  </a:moveTo>
                  <a:lnTo>
                    <a:pt x="2108845" y="0"/>
                  </a:lnTo>
                  <a:lnTo>
                    <a:pt x="2108845" y="139818"/>
                  </a:lnTo>
                  <a:lnTo>
                    <a:pt x="0" y="139818"/>
                  </a:lnTo>
                  <a:close/>
                </a:path>
              </a:pathLst>
            </a:custGeom>
            <a:solidFill>
              <a:srgbClr val="454B1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108845" cy="168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2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54759" y="7451105"/>
            <a:ext cx="1248840" cy="179070"/>
            <a:chOff x="0" y="0"/>
            <a:chExt cx="1665120" cy="238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298748" y="-19050"/>
              <a:ext cx="136637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atom count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53998" y="7451105"/>
            <a:ext cx="1023487" cy="179070"/>
            <a:chOff x="0" y="0"/>
            <a:chExt cx="1364649" cy="238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98748" y="-19050"/>
              <a:ext cx="106590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valence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336988" y="7451105"/>
            <a:ext cx="1743397" cy="179070"/>
            <a:chOff x="0" y="0"/>
            <a:chExt cx="2324529" cy="238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connectivity consistent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3404" y="7451105"/>
            <a:ext cx="1743397" cy="179070"/>
            <a:chOff x="0" y="0"/>
            <a:chExt cx="2324529" cy="238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skeletal notation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86650" y="7451105"/>
            <a:ext cx="1743397" cy="179070"/>
            <a:chOff x="0" y="0"/>
            <a:chExt cx="2324529" cy="2387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IUPAC name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5400000">
            <a:off x="-70482" y="546815"/>
            <a:ext cx="650482" cy="756374"/>
          </a:xfrm>
          <a:custGeom>
            <a:avLst/>
            <a:gdLst/>
            <a:ahLst/>
            <a:cxnLst/>
            <a:rect r="r" b="b" t="t" l="l"/>
            <a:pathLst>
              <a:path h="756374" w="650482">
                <a:moveTo>
                  <a:pt x="0" y="0"/>
                </a:moveTo>
                <a:lnTo>
                  <a:pt x="650482" y="0"/>
                </a:lnTo>
                <a:lnTo>
                  <a:pt x="650482" y="756374"/>
                </a:lnTo>
                <a:lnTo>
                  <a:pt x="0" y="7563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4878706" y="5487792"/>
            <a:ext cx="1974070" cy="667424"/>
          </a:xfrm>
          <a:custGeom>
            <a:avLst/>
            <a:gdLst/>
            <a:ahLst/>
            <a:cxnLst/>
            <a:rect r="r" b="b" t="t" l="l"/>
            <a:pathLst>
              <a:path h="667424" w="1974070">
                <a:moveTo>
                  <a:pt x="0" y="0"/>
                </a:moveTo>
                <a:lnTo>
                  <a:pt x="1974070" y="0"/>
                </a:lnTo>
                <a:lnTo>
                  <a:pt x="1974070" y="667424"/>
                </a:lnTo>
                <a:lnTo>
                  <a:pt x="0" y="6674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3430838" y="220711"/>
            <a:ext cx="4099070" cy="56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1"/>
              </a:lnSpc>
              <a:spcBef>
                <a:spcPct val="0"/>
              </a:spcBef>
            </a:pPr>
            <a:r>
              <a:rPr lang="en-US" sz="3258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ethanol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3818" y="1440743"/>
            <a:ext cx="2908830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MOLECULAR FORMULA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046075" y="1440743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LEWIS STRUCTRE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55711" y="4348077"/>
            <a:ext cx="3675923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CONDENSED STRUCTURAL FORMULA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037967" y="4348077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BOND-LINE FORMULA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9085" y="22807"/>
            <a:ext cx="241482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</a:t>
            </a: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our different chemical languages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513616" y="730141"/>
            <a:ext cx="3933513" cy="68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48"/>
              </a:lnSpc>
              <a:spcBef>
                <a:spcPct val="0"/>
              </a:spcBef>
            </a:pP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Eth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anol, also known as </a:t>
            </a:r>
            <a:r>
              <a:rPr lang="en-US" sz="1320" i="true">
                <a:solidFill>
                  <a:srgbClr val="454B1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ethyl alcohol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or simply alcohol, is a chemical compound that is both colorless and flammable.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9101" y="2136538"/>
            <a:ext cx="3318264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C₂H₆O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8537" y="5433221"/>
            <a:ext cx="3318264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OH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072700" y="2705888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636385" y="2705888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200071" y="2705888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072700" y="2168678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647082" y="2170022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647082" y="3226979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072700" y="3226979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509272" y="2701126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776500" y="2701126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AutoShape 54" id="54"/>
          <p:cNvSpPr/>
          <p:nvPr/>
        </p:nvSpPr>
        <p:spPr>
          <a:xfrm>
            <a:off x="4746528" y="2931631"/>
            <a:ext cx="260511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5319078" y="2931631"/>
            <a:ext cx="260511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>
            <a:off x="5891628" y="2931631"/>
            <a:ext cx="260511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>
            <a:off x="6464178" y="2931631"/>
            <a:ext cx="260511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>
            <a:off x="5742871" y="3076411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5169919" y="3076411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>
            <a:off x="5160394" y="2541198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>
            <a:off x="5743435" y="2541198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2" id="62"/>
          <p:cNvSpPr txBox="true"/>
          <p:nvPr/>
        </p:nvSpPr>
        <p:spPr>
          <a:xfrm rot="0">
            <a:off x="6218814" y="2464910"/>
            <a:ext cx="1774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218814" y="2802183"/>
            <a:ext cx="1774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503736" y="131971"/>
            <a:ext cx="394339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492C18"/>
                </a:solidFill>
                <a:latin typeface="Gatwick"/>
                <a:ea typeface="Gatwick"/>
                <a:cs typeface="Gatwick"/>
                <a:sym typeface="Gatwick"/>
              </a:rPr>
              <a:t>IUPAC Name: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4965" y="-8322"/>
            <a:ext cx="7789043" cy="7805687"/>
          </a:xfrm>
          <a:custGeom>
            <a:avLst/>
            <a:gdLst/>
            <a:ahLst/>
            <a:cxnLst/>
            <a:rect r="r" b="b" t="t" l="l"/>
            <a:pathLst>
              <a:path h="7805687" w="7789043">
                <a:moveTo>
                  <a:pt x="0" y="0"/>
                </a:moveTo>
                <a:lnTo>
                  <a:pt x="7789043" y="0"/>
                </a:lnTo>
                <a:lnTo>
                  <a:pt x="7789043" y="7805687"/>
                </a:lnTo>
                <a:lnTo>
                  <a:pt x="0" y="7805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460" t="-50154" r="0" b="-4954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76154" y="-81276"/>
            <a:ext cx="661827" cy="756374"/>
          </a:xfrm>
          <a:custGeom>
            <a:avLst/>
            <a:gdLst/>
            <a:ahLst/>
            <a:cxnLst/>
            <a:rect r="r" b="b" t="t" l="l"/>
            <a:pathLst>
              <a:path h="756374" w="661827">
                <a:moveTo>
                  <a:pt x="0" y="0"/>
                </a:moveTo>
                <a:lnTo>
                  <a:pt x="661827" y="0"/>
                </a:lnTo>
                <a:lnTo>
                  <a:pt x="661827" y="756375"/>
                </a:lnTo>
                <a:lnTo>
                  <a:pt x="0" y="756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5711" y="1674423"/>
            <a:ext cx="3399849" cy="2483154"/>
            <a:chOff x="0" y="0"/>
            <a:chExt cx="845607" cy="61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5607" cy="617608"/>
            </a:xfrm>
            <a:custGeom>
              <a:avLst/>
              <a:gdLst/>
              <a:ahLst/>
              <a:cxnLst/>
              <a:rect r="r" b="b" t="t" l="l"/>
              <a:pathLst>
                <a:path h="617608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7608"/>
                  </a:lnTo>
                  <a:lnTo>
                    <a:pt x="0" y="617608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45607" cy="646183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39741" y="1674423"/>
            <a:ext cx="3407388" cy="2492679"/>
            <a:chOff x="0" y="0"/>
            <a:chExt cx="847482" cy="6199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7482" cy="619977"/>
            </a:xfrm>
            <a:custGeom>
              <a:avLst/>
              <a:gdLst/>
              <a:ahLst/>
              <a:cxnLst/>
              <a:rect r="r" b="b" t="t" l="l"/>
              <a:pathLst>
                <a:path h="61997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9977"/>
                  </a:lnTo>
                  <a:lnTo>
                    <a:pt x="0" y="61997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47482" cy="64855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31634" y="4581757"/>
            <a:ext cx="3407388" cy="2479494"/>
            <a:chOff x="0" y="0"/>
            <a:chExt cx="847482" cy="6166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7482" cy="616697"/>
            </a:xfrm>
            <a:custGeom>
              <a:avLst/>
              <a:gdLst/>
              <a:ahLst/>
              <a:cxnLst/>
              <a:rect r="r" b="b" t="t" l="l"/>
              <a:pathLst>
                <a:path h="61669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6697"/>
                  </a:lnTo>
                  <a:lnTo>
                    <a:pt x="0" y="61669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47482" cy="64527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5711" y="4581757"/>
            <a:ext cx="3399849" cy="2465404"/>
            <a:chOff x="0" y="0"/>
            <a:chExt cx="845607" cy="6131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5607" cy="613193"/>
            </a:xfrm>
            <a:custGeom>
              <a:avLst/>
              <a:gdLst/>
              <a:ahLst/>
              <a:cxnLst/>
              <a:rect r="r" b="b" t="t" l="l"/>
              <a:pathLst>
                <a:path h="613193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3193"/>
                  </a:lnTo>
                  <a:lnTo>
                    <a:pt x="0" y="613193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45607" cy="641768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92" y="7283934"/>
            <a:ext cx="7743678" cy="513413"/>
            <a:chOff x="0" y="0"/>
            <a:chExt cx="2108845" cy="1398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08845" cy="139818"/>
            </a:xfrm>
            <a:custGeom>
              <a:avLst/>
              <a:gdLst/>
              <a:ahLst/>
              <a:cxnLst/>
              <a:rect r="r" b="b" t="t" l="l"/>
              <a:pathLst>
                <a:path h="139818" w="2108845">
                  <a:moveTo>
                    <a:pt x="0" y="0"/>
                  </a:moveTo>
                  <a:lnTo>
                    <a:pt x="2108845" y="0"/>
                  </a:lnTo>
                  <a:lnTo>
                    <a:pt x="2108845" y="139818"/>
                  </a:lnTo>
                  <a:lnTo>
                    <a:pt x="0" y="139818"/>
                  </a:lnTo>
                  <a:close/>
                </a:path>
              </a:pathLst>
            </a:custGeom>
            <a:solidFill>
              <a:srgbClr val="454B1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108845" cy="168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2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54759" y="7451105"/>
            <a:ext cx="1248840" cy="179070"/>
            <a:chOff x="0" y="0"/>
            <a:chExt cx="1665120" cy="238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298748" y="-19050"/>
              <a:ext cx="136637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atom count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53998" y="7451105"/>
            <a:ext cx="1023487" cy="179070"/>
            <a:chOff x="0" y="0"/>
            <a:chExt cx="1364649" cy="238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98748" y="-19050"/>
              <a:ext cx="106590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valence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336988" y="7451105"/>
            <a:ext cx="1743397" cy="179070"/>
            <a:chOff x="0" y="0"/>
            <a:chExt cx="2324529" cy="238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connectivity consistent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3404" y="7451105"/>
            <a:ext cx="1743397" cy="179070"/>
            <a:chOff x="0" y="0"/>
            <a:chExt cx="2324529" cy="238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skeletal notation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86650" y="7451105"/>
            <a:ext cx="1743397" cy="179070"/>
            <a:chOff x="0" y="0"/>
            <a:chExt cx="2324529" cy="2387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IUPAC name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5400000">
            <a:off x="-62775" y="499731"/>
            <a:ext cx="661316" cy="782622"/>
          </a:xfrm>
          <a:custGeom>
            <a:avLst/>
            <a:gdLst/>
            <a:ahLst/>
            <a:cxnLst/>
            <a:rect r="r" b="b" t="t" l="l"/>
            <a:pathLst>
              <a:path h="782622" w="661316">
                <a:moveTo>
                  <a:pt x="0" y="0"/>
                </a:moveTo>
                <a:lnTo>
                  <a:pt x="661316" y="0"/>
                </a:lnTo>
                <a:lnTo>
                  <a:pt x="661316" y="782622"/>
                </a:lnTo>
                <a:lnTo>
                  <a:pt x="0" y="782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875626" y="4997085"/>
            <a:ext cx="1735620" cy="1648839"/>
          </a:xfrm>
          <a:custGeom>
            <a:avLst/>
            <a:gdLst/>
            <a:ahLst/>
            <a:cxnLst/>
            <a:rect r="r" b="b" t="t" l="l"/>
            <a:pathLst>
              <a:path h="1648839" w="1735620">
                <a:moveTo>
                  <a:pt x="0" y="0"/>
                </a:moveTo>
                <a:lnTo>
                  <a:pt x="1735619" y="0"/>
                </a:lnTo>
                <a:lnTo>
                  <a:pt x="1735619" y="1648838"/>
                </a:lnTo>
                <a:lnTo>
                  <a:pt x="0" y="16488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632946" y="233735"/>
            <a:ext cx="6832715" cy="70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acetone</a:t>
            </a:r>
          </a:p>
          <a:p>
            <a:pPr algn="r">
              <a:lnSpc>
                <a:spcPts val="1391"/>
              </a:lnSpc>
              <a:spcBef>
                <a:spcPct val="0"/>
              </a:spcBef>
            </a:pPr>
            <a:r>
              <a:rPr lang="en-US" sz="2400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(Propan-2-one)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3818" y="1440743"/>
            <a:ext cx="2908830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MOLECULAR FORMULA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046075" y="1440743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LEWIS STRUCTRE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55711" y="4348077"/>
            <a:ext cx="3675923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CONDENSED STRUCTURAL FORMULA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037967" y="4348077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BOND-LINE FORMULA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9085" y="22807"/>
            <a:ext cx="241482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</a:t>
            </a: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our different chemical languages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522707" y="895637"/>
            <a:ext cx="4968663" cy="459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48"/>
              </a:lnSpc>
              <a:spcBef>
                <a:spcPct val="0"/>
              </a:spcBef>
            </a:pP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Acet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one is a 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liquid solvent that can break down and dissolve other substances.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798726" y="79741"/>
            <a:ext cx="264840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492C18"/>
                </a:solidFill>
                <a:latin typeface="Gatwick"/>
                <a:ea typeface="Gatwick"/>
                <a:cs typeface="Gatwick"/>
                <a:sym typeface="Gatwick"/>
              </a:rPr>
              <a:t>IUPAC Name: </a:t>
            </a:r>
            <a:r>
              <a:rPr lang="en-US" b="true" sz="1200">
                <a:solidFill>
                  <a:srgbClr val="492C18"/>
                </a:solidFill>
                <a:latin typeface="Gatwick Bold"/>
                <a:ea typeface="Gatwick Bold"/>
                <a:cs typeface="Gatwick Bold"/>
                <a:sym typeface="Gatwick Bold"/>
              </a:rPr>
              <a:t>Propan-2-one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67883" y="2055423"/>
            <a:ext cx="3318264" cy="280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200"/>
              </a:lnSpc>
            </a:pPr>
            <a:r>
              <a:rPr lang="en-US" sz="8000" b="true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C₃H₆O</a:t>
            </a:r>
          </a:p>
          <a:p>
            <a:pPr algn="r">
              <a:lnSpc>
                <a:spcPts val="11200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68537" y="5433221"/>
            <a:ext cx="3318264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COCH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072700" y="2705888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636385" y="2705888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200071" y="2705888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072700" y="2168678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617594" y="2159199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221464" y="2171366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221464" y="3226979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647082" y="3226979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072700" y="3226979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509272" y="2701126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776500" y="2701126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AutoShape 57" id="57"/>
          <p:cNvSpPr/>
          <p:nvPr/>
        </p:nvSpPr>
        <p:spPr>
          <a:xfrm>
            <a:off x="4746528" y="2931631"/>
            <a:ext cx="260511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>
            <a:off x="5319078" y="2931631"/>
            <a:ext cx="260511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5891628" y="2931631"/>
            <a:ext cx="260511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>
            <a:off x="6464178" y="2931631"/>
            <a:ext cx="260511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>
            <a:off x="6315823" y="3076411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5742871" y="3076411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>
            <a:off x="5169919" y="3076411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>
            <a:off x="5160394" y="2541198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>
            <a:off x="5708549" y="2541198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6326477" y="2541198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>
            <a:off x="5757464" y="2541198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8" id="68"/>
          <p:cNvSpPr txBox="true"/>
          <p:nvPr/>
        </p:nvSpPr>
        <p:spPr>
          <a:xfrm rot="-5400000">
            <a:off x="5678171" y="2199941"/>
            <a:ext cx="1774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69" id="69"/>
          <p:cNvSpPr txBox="true"/>
          <p:nvPr/>
        </p:nvSpPr>
        <p:spPr>
          <a:xfrm rot="5400000">
            <a:off x="5586950" y="2187774"/>
            <a:ext cx="1774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4965" y="-8322"/>
            <a:ext cx="7789043" cy="7805687"/>
          </a:xfrm>
          <a:custGeom>
            <a:avLst/>
            <a:gdLst/>
            <a:ahLst/>
            <a:cxnLst/>
            <a:rect r="r" b="b" t="t" l="l"/>
            <a:pathLst>
              <a:path h="7805687" w="7789043">
                <a:moveTo>
                  <a:pt x="0" y="0"/>
                </a:moveTo>
                <a:lnTo>
                  <a:pt x="7789043" y="0"/>
                </a:lnTo>
                <a:lnTo>
                  <a:pt x="7789043" y="7805687"/>
                </a:lnTo>
                <a:lnTo>
                  <a:pt x="0" y="7805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460" t="-50154" r="0" b="-4954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76154" y="-81276"/>
            <a:ext cx="661827" cy="756374"/>
          </a:xfrm>
          <a:custGeom>
            <a:avLst/>
            <a:gdLst/>
            <a:ahLst/>
            <a:cxnLst/>
            <a:rect r="r" b="b" t="t" l="l"/>
            <a:pathLst>
              <a:path h="756374" w="661827">
                <a:moveTo>
                  <a:pt x="0" y="0"/>
                </a:moveTo>
                <a:lnTo>
                  <a:pt x="661827" y="0"/>
                </a:lnTo>
                <a:lnTo>
                  <a:pt x="661827" y="756375"/>
                </a:lnTo>
                <a:lnTo>
                  <a:pt x="0" y="756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5711" y="1674423"/>
            <a:ext cx="3399849" cy="2483154"/>
            <a:chOff x="0" y="0"/>
            <a:chExt cx="845607" cy="61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5607" cy="617608"/>
            </a:xfrm>
            <a:custGeom>
              <a:avLst/>
              <a:gdLst/>
              <a:ahLst/>
              <a:cxnLst/>
              <a:rect r="r" b="b" t="t" l="l"/>
              <a:pathLst>
                <a:path h="617608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7608"/>
                  </a:lnTo>
                  <a:lnTo>
                    <a:pt x="0" y="617608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45607" cy="646183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39741" y="1674423"/>
            <a:ext cx="3407388" cy="2492679"/>
            <a:chOff x="0" y="0"/>
            <a:chExt cx="847482" cy="6199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7482" cy="619977"/>
            </a:xfrm>
            <a:custGeom>
              <a:avLst/>
              <a:gdLst/>
              <a:ahLst/>
              <a:cxnLst/>
              <a:rect r="r" b="b" t="t" l="l"/>
              <a:pathLst>
                <a:path h="61997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9977"/>
                  </a:lnTo>
                  <a:lnTo>
                    <a:pt x="0" y="61997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47482" cy="64855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31634" y="4581757"/>
            <a:ext cx="3407388" cy="2479494"/>
            <a:chOff x="0" y="0"/>
            <a:chExt cx="847482" cy="6166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7482" cy="616697"/>
            </a:xfrm>
            <a:custGeom>
              <a:avLst/>
              <a:gdLst/>
              <a:ahLst/>
              <a:cxnLst/>
              <a:rect r="r" b="b" t="t" l="l"/>
              <a:pathLst>
                <a:path h="61669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6697"/>
                  </a:lnTo>
                  <a:lnTo>
                    <a:pt x="0" y="61669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47482" cy="64527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5711" y="4581757"/>
            <a:ext cx="3399849" cy="2465404"/>
            <a:chOff x="0" y="0"/>
            <a:chExt cx="845607" cy="6131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5607" cy="613193"/>
            </a:xfrm>
            <a:custGeom>
              <a:avLst/>
              <a:gdLst/>
              <a:ahLst/>
              <a:cxnLst/>
              <a:rect r="r" b="b" t="t" l="l"/>
              <a:pathLst>
                <a:path h="613193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3193"/>
                  </a:lnTo>
                  <a:lnTo>
                    <a:pt x="0" y="613193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45607" cy="641768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92" y="7283934"/>
            <a:ext cx="7743678" cy="513413"/>
            <a:chOff x="0" y="0"/>
            <a:chExt cx="2108845" cy="1398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08845" cy="139818"/>
            </a:xfrm>
            <a:custGeom>
              <a:avLst/>
              <a:gdLst/>
              <a:ahLst/>
              <a:cxnLst/>
              <a:rect r="r" b="b" t="t" l="l"/>
              <a:pathLst>
                <a:path h="139818" w="2108845">
                  <a:moveTo>
                    <a:pt x="0" y="0"/>
                  </a:moveTo>
                  <a:lnTo>
                    <a:pt x="2108845" y="0"/>
                  </a:lnTo>
                  <a:lnTo>
                    <a:pt x="2108845" y="139818"/>
                  </a:lnTo>
                  <a:lnTo>
                    <a:pt x="0" y="139818"/>
                  </a:lnTo>
                  <a:close/>
                </a:path>
              </a:pathLst>
            </a:custGeom>
            <a:solidFill>
              <a:srgbClr val="454B1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108845" cy="168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2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54759" y="7451105"/>
            <a:ext cx="1248840" cy="179070"/>
            <a:chOff x="0" y="0"/>
            <a:chExt cx="1665120" cy="238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298748" y="-19050"/>
              <a:ext cx="136637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atom count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53998" y="7451105"/>
            <a:ext cx="1023487" cy="179070"/>
            <a:chOff x="0" y="0"/>
            <a:chExt cx="1364649" cy="238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98748" y="-19050"/>
              <a:ext cx="106590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valence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336988" y="7451105"/>
            <a:ext cx="1743397" cy="179070"/>
            <a:chOff x="0" y="0"/>
            <a:chExt cx="2324529" cy="238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connectivity consistent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3404" y="7451105"/>
            <a:ext cx="1743397" cy="179070"/>
            <a:chOff x="0" y="0"/>
            <a:chExt cx="2324529" cy="238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skeletal notation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86650" y="7451105"/>
            <a:ext cx="1743397" cy="179070"/>
            <a:chOff x="0" y="0"/>
            <a:chExt cx="2324529" cy="2387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IUPAC name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5400000">
            <a:off x="-115864" y="620261"/>
            <a:ext cx="741247" cy="756374"/>
          </a:xfrm>
          <a:custGeom>
            <a:avLst/>
            <a:gdLst/>
            <a:ahLst/>
            <a:cxnLst/>
            <a:rect r="r" b="b" t="t" l="l"/>
            <a:pathLst>
              <a:path h="756374" w="741247">
                <a:moveTo>
                  <a:pt x="0" y="0"/>
                </a:moveTo>
                <a:lnTo>
                  <a:pt x="741247" y="0"/>
                </a:lnTo>
                <a:lnTo>
                  <a:pt x="741247" y="756375"/>
                </a:lnTo>
                <a:lnTo>
                  <a:pt x="0" y="7563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839498" y="4962138"/>
            <a:ext cx="1937772" cy="1688630"/>
          </a:xfrm>
          <a:custGeom>
            <a:avLst/>
            <a:gdLst/>
            <a:ahLst/>
            <a:cxnLst/>
            <a:rect r="r" b="b" t="t" l="l"/>
            <a:pathLst>
              <a:path h="1688630" w="1937772">
                <a:moveTo>
                  <a:pt x="0" y="0"/>
                </a:moveTo>
                <a:lnTo>
                  <a:pt x="1937772" y="0"/>
                </a:lnTo>
                <a:lnTo>
                  <a:pt x="1937772" y="1688630"/>
                </a:lnTo>
                <a:lnTo>
                  <a:pt x="0" y="16886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390644" y="325486"/>
            <a:ext cx="7056485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2400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acetic acid (ethanoic acid)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3818" y="1440743"/>
            <a:ext cx="2908830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MOLECULAR FORMULA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046075" y="1440743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LEWIS STRUCTRE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55711" y="4348077"/>
            <a:ext cx="3675923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CONDENSED STRUCTURAL FORMULA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037967" y="4348077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BOND-LINE FORMULA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9085" y="22807"/>
            <a:ext cx="241482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</a:t>
            </a: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our different chemical languages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62533" y="902779"/>
            <a:ext cx="6076488" cy="452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48"/>
              </a:lnSpc>
              <a:spcBef>
                <a:spcPct val="0"/>
              </a:spcBef>
            </a:pP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Acetic acid, also kn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own as ethanoic acid, is a chem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ical compound found in many different products. It's perhaps most well-known as the main component of vinegar.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55711" y="2197539"/>
            <a:ext cx="338873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C₂H₄O₂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-45616" y="5343757"/>
            <a:ext cx="3318264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COOH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072700" y="2705888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636385" y="2705888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200071" y="2705888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072700" y="2168678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072700" y="3226979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509272" y="2701126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776500" y="2701126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AutoShape 52" id="52"/>
          <p:cNvSpPr/>
          <p:nvPr/>
        </p:nvSpPr>
        <p:spPr>
          <a:xfrm>
            <a:off x="4746528" y="2931631"/>
            <a:ext cx="260511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>
            <a:off x="5319078" y="2931631"/>
            <a:ext cx="260511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>
            <a:off x="5891628" y="2931631"/>
            <a:ext cx="260511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6464178" y="2931631"/>
            <a:ext cx="260511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>
            <a:off x="5169919" y="3076411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>
            <a:off x="5160394" y="2541198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8" id="58"/>
          <p:cNvSpPr txBox="true"/>
          <p:nvPr/>
        </p:nvSpPr>
        <p:spPr>
          <a:xfrm rot="0">
            <a:off x="6218814" y="2464910"/>
            <a:ext cx="1774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218814" y="2802183"/>
            <a:ext cx="1774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617594" y="2159199"/>
            <a:ext cx="12527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O</a:t>
            </a:r>
          </a:p>
        </p:txBody>
      </p:sp>
      <p:sp>
        <p:nvSpPr>
          <p:cNvPr name="AutoShape 61" id="61"/>
          <p:cNvSpPr/>
          <p:nvPr/>
        </p:nvSpPr>
        <p:spPr>
          <a:xfrm>
            <a:off x="5708549" y="2541198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5757464" y="2541198"/>
            <a:ext cx="0" cy="26051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3" id="63"/>
          <p:cNvSpPr txBox="true"/>
          <p:nvPr/>
        </p:nvSpPr>
        <p:spPr>
          <a:xfrm rot="-5400000">
            <a:off x="5678171" y="2199941"/>
            <a:ext cx="1774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64" id="64"/>
          <p:cNvSpPr txBox="true"/>
          <p:nvPr/>
        </p:nvSpPr>
        <p:spPr>
          <a:xfrm rot="5400000">
            <a:off x="5586950" y="2187774"/>
            <a:ext cx="17741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798726" y="79741"/>
            <a:ext cx="2648404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492C18"/>
                </a:solidFill>
                <a:latin typeface="Gatwick"/>
                <a:ea typeface="Gatwick"/>
                <a:cs typeface="Gatwick"/>
                <a:sym typeface="Gatwick"/>
              </a:rPr>
              <a:t>IUPAC Name: </a:t>
            </a:r>
            <a:r>
              <a:rPr lang="en-US" b="true" sz="1200">
                <a:solidFill>
                  <a:srgbClr val="492C18"/>
                </a:solidFill>
                <a:latin typeface="Gatwick Bold"/>
                <a:ea typeface="Gatwick Bold"/>
                <a:cs typeface="Gatwick Bold"/>
                <a:sym typeface="Gatwick Bold"/>
              </a:rPr>
              <a:t>Ethanoic acid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4965" y="-8322"/>
            <a:ext cx="7789043" cy="7805687"/>
          </a:xfrm>
          <a:custGeom>
            <a:avLst/>
            <a:gdLst/>
            <a:ahLst/>
            <a:cxnLst/>
            <a:rect r="r" b="b" t="t" l="l"/>
            <a:pathLst>
              <a:path h="7805687" w="7789043">
                <a:moveTo>
                  <a:pt x="0" y="0"/>
                </a:moveTo>
                <a:lnTo>
                  <a:pt x="7789043" y="0"/>
                </a:lnTo>
                <a:lnTo>
                  <a:pt x="7789043" y="7805687"/>
                </a:lnTo>
                <a:lnTo>
                  <a:pt x="0" y="7805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460" t="-50154" r="0" b="-4954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76154" y="-81276"/>
            <a:ext cx="661827" cy="756374"/>
          </a:xfrm>
          <a:custGeom>
            <a:avLst/>
            <a:gdLst/>
            <a:ahLst/>
            <a:cxnLst/>
            <a:rect r="r" b="b" t="t" l="l"/>
            <a:pathLst>
              <a:path h="756374" w="661827">
                <a:moveTo>
                  <a:pt x="0" y="0"/>
                </a:moveTo>
                <a:lnTo>
                  <a:pt x="661827" y="0"/>
                </a:lnTo>
                <a:lnTo>
                  <a:pt x="661827" y="756375"/>
                </a:lnTo>
                <a:lnTo>
                  <a:pt x="0" y="756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5711" y="1674423"/>
            <a:ext cx="3399849" cy="2483154"/>
            <a:chOff x="0" y="0"/>
            <a:chExt cx="845607" cy="61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5607" cy="617608"/>
            </a:xfrm>
            <a:custGeom>
              <a:avLst/>
              <a:gdLst/>
              <a:ahLst/>
              <a:cxnLst/>
              <a:rect r="r" b="b" t="t" l="l"/>
              <a:pathLst>
                <a:path h="617608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7608"/>
                  </a:lnTo>
                  <a:lnTo>
                    <a:pt x="0" y="617608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45607" cy="646183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39741" y="1674423"/>
            <a:ext cx="3407388" cy="2492679"/>
            <a:chOff x="0" y="0"/>
            <a:chExt cx="847482" cy="6199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7482" cy="619977"/>
            </a:xfrm>
            <a:custGeom>
              <a:avLst/>
              <a:gdLst/>
              <a:ahLst/>
              <a:cxnLst/>
              <a:rect r="r" b="b" t="t" l="l"/>
              <a:pathLst>
                <a:path h="61997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9977"/>
                  </a:lnTo>
                  <a:lnTo>
                    <a:pt x="0" y="61997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47482" cy="64855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31634" y="4581757"/>
            <a:ext cx="3407388" cy="2479494"/>
            <a:chOff x="0" y="0"/>
            <a:chExt cx="847482" cy="6166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7482" cy="616697"/>
            </a:xfrm>
            <a:custGeom>
              <a:avLst/>
              <a:gdLst/>
              <a:ahLst/>
              <a:cxnLst/>
              <a:rect r="r" b="b" t="t" l="l"/>
              <a:pathLst>
                <a:path h="61669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6697"/>
                  </a:lnTo>
                  <a:lnTo>
                    <a:pt x="0" y="61669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47482" cy="64527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5711" y="4581757"/>
            <a:ext cx="3399849" cy="2465404"/>
            <a:chOff x="0" y="0"/>
            <a:chExt cx="845607" cy="6131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5607" cy="613193"/>
            </a:xfrm>
            <a:custGeom>
              <a:avLst/>
              <a:gdLst/>
              <a:ahLst/>
              <a:cxnLst/>
              <a:rect r="r" b="b" t="t" l="l"/>
              <a:pathLst>
                <a:path h="613193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3193"/>
                  </a:lnTo>
                  <a:lnTo>
                    <a:pt x="0" y="613193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45607" cy="641768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92" y="7283934"/>
            <a:ext cx="7743678" cy="513413"/>
            <a:chOff x="0" y="0"/>
            <a:chExt cx="2108845" cy="1398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08845" cy="139818"/>
            </a:xfrm>
            <a:custGeom>
              <a:avLst/>
              <a:gdLst/>
              <a:ahLst/>
              <a:cxnLst/>
              <a:rect r="r" b="b" t="t" l="l"/>
              <a:pathLst>
                <a:path h="139818" w="2108845">
                  <a:moveTo>
                    <a:pt x="0" y="0"/>
                  </a:moveTo>
                  <a:lnTo>
                    <a:pt x="2108845" y="0"/>
                  </a:lnTo>
                  <a:lnTo>
                    <a:pt x="2108845" y="139818"/>
                  </a:lnTo>
                  <a:lnTo>
                    <a:pt x="0" y="139818"/>
                  </a:lnTo>
                  <a:close/>
                </a:path>
              </a:pathLst>
            </a:custGeom>
            <a:solidFill>
              <a:srgbClr val="454B1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108845" cy="168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2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54759" y="7451105"/>
            <a:ext cx="1248840" cy="179070"/>
            <a:chOff x="0" y="0"/>
            <a:chExt cx="1665120" cy="238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298748" y="-19050"/>
              <a:ext cx="136637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atom count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53998" y="7451105"/>
            <a:ext cx="1023487" cy="179070"/>
            <a:chOff x="0" y="0"/>
            <a:chExt cx="1364649" cy="238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98748" y="-19050"/>
              <a:ext cx="106590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valence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336988" y="7451105"/>
            <a:ext cx="1743397" cy="179070"/>
            <a:chOff x="0" y="0"/>
            <a:chExt cx="2324529" cy="238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connectivity consistent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3404" y="7451105"/>
            <a:ext cx="1743397" cy="179070"/>
            <a:chOff x="0" y="0"/>
            <a:chExt cx="2324529" cy="238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skeletal notation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86650" y="7451105"/>
            <a:ext cx="1743397" cy="179070"/>
            <a:chOff x="0" y="0"/>
            <a:chExt cx="2324529" cy="2387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IUPAC name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5400000">
            <a:off x="-64809" y="507010"/>
            <a:ext cx="639136" cy="756374"/>
          </a:xfrm>
          <a:custGeom>
            <a:avLst/>
            <a:gdLst/>
            <a:ahLst/>
            <a:cxnLst/>
            <a:rect r="r" b="b" t="t" l="l"/>
            <a:pathLst>
              <a:path h="756374" w="639136">
                <a:moveTo>
                  <a:pt x="0" y="0"/>
                </a:moveTo>
                <a:lnTo>
                  <a:pt x="639136" y="0"/>
                </a:lnTo>
                <a:lnTo>
                  <a:pt x="639136" y="756374"/>
                </a:lnTo>
                <a:lnTo>
                  <a:pt x="0" y="7563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540432" y="5101864"/>
            <a:ext cx="2406006" cy="1247306"/>
          </a:xfrm>
          <a:custGeom>
            <a:avLst/>
            <a:gdLst/>
            <a:ahLst/>
            <a:cxnLst/>
            <a:rect r="r" b="b" t="t" l="l"/>
            <a:pathLst>
              <a:path h="1247306" w="2406006">
                <a:moveTo>
                  <a:pt x="0" y="0"/>
                </a:moveTo>
                <a:lnTo>
                  <a:pt x="2406007" y="0"/>
                </a:lnTo>
                <a:lnTo>
                  <a:pt x="2406007" y="1247307"/>
                </a:lnTo>
                <a:lnTo>
                  <a:pt x="0" y="12473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254759" y="358087"/>
            <a:ext cx="7337500" cy="613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28"/>
              </a:lnSpc>
            </a:pPr>
            <a:r>
              <a:rPr lang="en-US" sz="2400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Ethyl </a:t>
            </a:r>
            <a:r>
              <a:rPr lang="en-US" sz="2400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acetate</a:t>
            </a:r>
          </a:p>
          <a:p>
            <a:pPr algn="r">
              <a:lnSpc>
                <a:spcPts val="2328"/>
              </a:lnSpc>
              <a:spcBef>
                <a:spcPct val="0"/>
              </a:spcBef>
            </a:pPr>
            <a:r>
              <a:rPr lang="en-US" sz="2400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(ethyl ethanoate)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3818" y="1440743"/>
            <a:ext cx="2908830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MOLECULAR FORMULA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046075" y="1440743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LEWIS STRUCTRE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55711" y="4348077"/>
            <a:ext cx="3675923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CONDENSED STRUCTURAL FORMULA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037967" y="4348077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BOND-LINE FORMULA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9085" y="22807"/>
            <a:ext cx="241482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</a:t>
            </a: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our different chemical languages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07914" y="942541"/>
            <a:ext cx="6284346" cy="459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48"/>
              </a:lnSpc>
              <a:spcBef>
                <a:spcPct val="0"/>
              </a:spcBef>
            </a:pP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Ethyl Acet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ate is an organic ester compound that 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appears as a colorless liquid. It is highly miscible with all common organic solvents.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-324277" y="2235915"/>
            <a:ext cx="3935364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C₄H₈O₂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55711" y="5417644"/>
            <a:ext cx="3318264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COOC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</a:t>
            </a:r>
            <a:r>
              <a:rPr lang="en-US" b="true" sz="4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239567" y="2769358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691384" y="2769358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O</a:t>
            </a:r>
          </a:p>
        </p:txBody>
      </p:sp>
      <p:sp>
        <p:nvSpPr>
          <p:cNvPr name="AutoShape 47" id="47"/>
          <p:cNvSpPr/>
          <p:nvPr/>
        </p:nvSpPr>
        <p:spPr>
          <a:xfrm>
            <a:off x="4985233" y="2942592"/>
            <a:ext cx="208810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5444155" y="2942592"/>
            <a:ext cx="208810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5903077" y="2942592"/>
            <a:ext cx="208810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4336141" y="2376863"/>
            <a:ext cx="552025" cy="1103269"/>
            <a:chOff x="0" y="0"/>
            <a:chExt cx="736033" cy="1471025"/>
          </a:xfrm>
        </p:grpSpPr>
        <p:sp>
          <p:nvSpPr>
            <p:cNvPr name="TextBox 51" id="51"/>
            <p:cNvSpPr txBox="true"/>
            <p:nvPr/>
          </p:nvSpPr>
          <p:spPr>
            <a:xfrm rot="0">
              <a:off x="602146" y="536027"/>
              <a:ext cx="133886" cy="378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56"/>
                </a:lnSpc>
                <a:spcBef>
                  <a:spcPct val="0"/>
                </a:spcBef>
              </a:pPr>
              <a:r>
                <a:rPr lang="en-US" sz="1683">
                  <a:solidFill>
                    <a:srgbClr val="492C18"/>
                  </a:solidFill>
                  <a:latin typeface="Bernoru"/>
                  <a:ea typeface="Bernoru"/>
                  <a:cs typeface="Bernoru"/>
                  <a:sym typeface="Bernoru"/>
                </a:rPr>
                <a:t>C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602146" y="-38100"/>
              <a:ext cx="133886" cy="378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56"/>
                </a:lnSpc>
                <a:spcBef>
                  <a:spcPct val="0"/>
                </a:spcBef>
              </a:pPr>
              <a:r>
                <a:rPr lang="en-US" sz="1683">
                  <a:solidFill>
                    <a:srgbClr val="492C18"/>
                  </a:solidFill>
                  <a:latin typeface="Bernoru"/>
                  <a:ea typeface="Bernoru"/>
                  <a:cs typeface="Bernoru"/>
                  <a:sym typeface="Bernoru"/>
                </a:rPr>
                <a:t>H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602146" y="1092928"/>
              <a:ext cx="133886" cy="378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56"/>
                </a:lnSpc>
                <a:spcBef>
                  <a:spcPct val="0"/>
                </a:spcBef>
              </a:pPr>
              <a:r>
                <a:rPr lang="en-US" sz="1683">
                  <a:solidFill>
                    <a:srgbClr val="492C18"/>
                  </a:solidFill>
                  <a:latin typeface="Bernoru"/>
                  <a:ea typeface="Bernoru"/>
                  <a:cs typeface="Bernoru"/>
                  <a:sym typeface="Bernoru"/>
                </a:rPr>
                <a:t>H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0" y="530938"/>
              <a:ext cx="133886" cy="378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56"/>
                </a:lnSpc>
                <a:spcBef>
                  <a:spcPct val="0"/>
                </a:spcBef>
              </a:pPr>
              <a:r>
                <a:rPr lang="en-US" sz="1683">
                  <a:solidFill>
                    <a:srgbClr val="492C18"/>
                  </a:solidFill>
                  <a:latin typeface="Bernoru"/>
                  <a:ea typeface="Bernoru"/>
                  <a:cs typeface="Bernoru"/>
                  <a:sym typeface="Bernoru"/>
                </a:rPr>
                <a:t>H</a:t>
              </a:r>
            </a:p>
          </p:txBody>
        </p:sp>
        <p:sp>
          <p:nvSpPr>
            <p:cNvPr name="AutoShape 55" id="55"/>
            <p:cNvSpPr/>
            <p:nvPr/>
          </p:nvSpPr>
          <p:spPr>
            <a:xfrm>
              <a:off x="253560" y="754306"/>
              <a:ext cx="278414" cy="0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>
              <a:off x="706046" y="909035"/>
              <a:ext cx="0" cy="278414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7" id="57"/>
            <p:cNvSpPr/>
            <p:nvPr/>
          </p:nvSpPr>
          <p:spPr>
            <a:xfrm>
              <a:off x="695867" y="337042"/>
              <a:ext cx="0" cy="278414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58" id="58"/>
          <p:cNvSpPr txBox="true"/>
          <p:nvPr/>
        </p:nvSpPr>
        <p:spPr>
          <a:xfrm rot="0">
            <a:off x="5706408" y="2576205"/>
            <a:ext cx="142204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706408" y="2846542"/>
            <a:ext cx="142204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224505" y="2331165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O</a:t>
            </a:r>
          </a:p>
        </p:txBody>
      </p:sp>
      <p:sp>
        <p:nvSpPr>
          <p:cNvPr name="AutoShape 61" id="61"/>
          <p:cNvSpPr/>
          <p:nvPr/>
        </p:nvSpPr>
        <p:spPr>
          <a:xfrm>
            <a:off x="5297409" y="2629644"/>
            <a:ext cx="0" cy="20881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5336617" y="2629644"/>
            <a:ext cx="0" cy="20881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3" id="63"/>
          <p:cNvSpPr txBox="true"/>
          <p:nvPr/>
        </p:nvSpPr>
        <p:spPr>
          <a:xfrm rot="-5400000">
            <a:off x="5276914" y="2359967"/>
            <a:ext cx="142204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64" id="64"/>
          <p:cNvSpPr txBox="true"/>
          <p:nvPr/>
        </p:nvSpPr>
        <p:spPr>
          <a:xfrm rot="5400000">
            <a:off x="5196089" y="2350215"/>
            <a:ext cx="142204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179991" y="2798483"/>
            <a:ext cx="96067" cy="28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4"/>
              </a:lnSpc>
              <a:spcBef>
                <a:spcPct val="0"/>
              </a:spcBef>
            </a:pPr>
            <a:r>
              <a:rPr lang="en-US" sz="161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612246" y="2798483"/>
            <a:ext cx="96067" cy="28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4"/>
              </a:lnSpc>
              <a:spcBef>
                <a:spcPct val="0"/>
              </a:spcBef>
            </a:pPr>
            <a:r>
              <a:rPr lang="en-US" sz="161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6188194" y="2387562"/>
            <a:ext cx="96067" cy="28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4"/>
              </a:lnSpc>
              <a:spcBef>
                <a:spcPct val="0"/>
              </a:spcBef>
            </a:pPr>
            <a:r>
              <a:rPr lang="en-US" sz="161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628650" y="2388592"/>
            <a:ext cx="96067" cy="28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4"/>
              </a:lnSpc>
              <a:spcBef>
                <a:spcPct val="0"/>
              </a:spcBef>
            </a:pPr>
            <a:r>
              <a:rPr lang="en-US" sz="161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628650" y="3198074"/>
            <a:ext cx="96067" cy="28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4"/>
              </a:lnSpc>
              <a:spcBef>
                <a:spcPct val="0"/>
              </a:spcBef>
            </a:pPr>
            <a:r>
              <a:rPr lang="en-US" sz="161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188194" y="3198074"/>
            <a:ext cx="96067" cy="28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4"/>
              </a:lnSpc>
              <a:spcBef>
                <a:spcPct val="0"/>
              </a:spcBef>
            </a:pPr>
            <a:r>
              <a:rPr lang="en-US" sz="161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7054273" y="2794831"/>
            <a:ext cx="96067" cy="28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4"/>
              </a:lnSpc>
              <a:spcBef>
                <a:spcPct val="0"/>
              </a:spcBef>
            </a:pPr>
            <a:r>
              <a:rPr lang="en-US" sz="1610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AutoShape 72" id="72"/>
          <p:cNvSpPr/>
          <p:nvPr/>
        </p:nvSpPr>
        <p:spPr>
          <a:xfrm>
            <a:off x="6375721" y="2965866"/>
            <a:ext cx="199769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>
            <a:off x="6814773" y="2965866"/>
            <a:ext cx="199769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>
            <a:off x="6701009" y="3076888"/>
            <a:ext cx="0" cy="19976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>
            <a:off x="6261649" y="3076888"/>
            <a:ext cx="0" cy="19976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>
            <a:off x="6262081" y="2666468"/>
            <a:ext cx="0" cy="19976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>
            <a:off x="6709179" y="2666468"/>
            <a:ext cx="0" cy="19976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8" id="78"/>
          <p:cNvSpPr txBox="true"/>
          <p:nvPr/>
        </p:nvSpPr>
        <p:spPr>
          <a:xfrm rot="0">
            <a:off x="3729081" y="93292"/>
            <a:ext cx="3863179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492C18"/>
                </a:solidFill>
                <a:latin typeface="Gatwick"/>
                <a:ea typeface="Gatwick"/>
                <a:cs typeface="Gatwick"/>
                <a:sym typeface="Gatwick"/>
              </a:rPr>
              <a:t>IUPAC Name: </a:t>
            </a:r>
            <a:r>
              <a:rPr lang="en-US" b="true" sz="1200">
                <a:solidFill>
                  <a:srgbClr val="492C18"/>
                </a:solidFill>
                <a:latin typeface="Gatwick Bold"/>
                <a:ea typeface="Gatwick Bold"/>
                <a:cs typeface="Gatwick Bold"/>
                <a:sym typeface="Gatwick Bold"/>
              </a:rPr>
              <a:t>Ethyl ethanoate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4965" y="-8322"/>
            <a:ext cx="7789043" cy="7805687"/>
          </a:xfrm>
          <a:custGeom>
            <a:avLst/>
            <a:gdLst/>
            <a:ahLst/>
            <a:cxnLst/>
            <a:rect r="r" b="b" t="t" l="l"/>
            <a:pathLst>
              <a:path h="7805687" w="7789043">
                <a:moveTo>
                  <a:pt x="0" y="0"/>
                </a:moveTo>
                <a:lnTo>
                  <a:pt x="7789043" y="0"/>
                </a:lnTo>
                <a:lnTo>
                  <a:pt x="7789043" y="7805687"/>
                </a:lnTo>
                <a:lnTo>
                  <a:pt x="0" y="7805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460" t="-50154" r="0" b="-4954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76154" y="-81276"/>
            <a:ext cx="661827" cy="756374"/>
          </a:xfrm>
          <a:custGeom>
            <a:avLst/>
            <a:gdLst/>
            <a:ahLst/>
            <a:cxnLst/>
            <a:rect r="r" b="b" t="t" l="l"/>
            <a:pathLst>
              <a:path h="756374" w="661827">
                <a:moveTo>
                  <a:pt x="0" y="0"/>
                </a:moveTo>
                <a:lnTo>
                  <a:pt x="661827" y="0"/>
                </a:lnTo>
                <a:lnTo>
                  <a:pt x="661827" y="756375"/>
                </a:lnTo>
                <a:lnTo>
                  <a:pt x="0" y="756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5711" y="1674423"/>
            <a:ext cx="3399849" cy="2483154"/>
            <a:chOff x="0" y="0"/>
            <a:chExt cx="845607" cy="61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5607" cy="617608"/>
            </a:xfrm>
            <a:custGeom>
              <a:avLst/>
              <a:gdLst/>
              <a:ahLst/>
              <a:cxnLst/>
              <a:rect r="r" b="b" t="t" l="l"/>
              <a:pathLst>
                <a:path h="617608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7608"/>
                  </a:lnTo>
                  <a:lnTo>
                    <a:pt x="0" y="617608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45607" cy="646183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39741" y="1674423"/>
            <a:ext cx="3407388" cy="2492679"/>
            <a:chOff x="0" y="0"/>
            <a:chExt cx="847482" cy="6199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7482" cy="619977"/>
            </a:xfrm>
            <a:custGeom>
              <a:avLst/>
              <a:gdLst/>
              <a:ahLst/>
              <a:cxnLst/>
              <a:rect r="r" b="b" t="t" l="l"/>
              <a:pathLst>
                <a:path h="61997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9977"/>
                  </a:lnTo>
                  <a:lnTo>
                    <a:pt x="0" y="61997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47482" cy="64855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31634" y="4581757"/>
            <a:ext cx="3407388" cy="2479494"/>
            <a:chOff x="0" y="0"/>
            <a:chExt cx="847482" cy="6166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7482" cy="616697"/>
            </a:xfrm>
            <a:custGeom>
              <a:avLst/>
              <a:gdLst/>
              <a:ahLst/>
              <a:cxnLst/>
              <a:rect r="r" b="b" t="t" l="l"/>
              <a:pathLst>
                <a:path h="61669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6697"/>
                  </a:lnTo>
                  <a:lnTo>
                    <a:pt x="0" y="61669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47482" cy="64527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5711" y="4581757"/>
            <a:ext cx="3399849" cy="2465404"/>
            <a:chOff x="0" y="0"/>
            <a:chExt cx="845607" cy="6131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5607" cy="613193"/>
            </a:xfrm>
            <a:custGeom>
              <a:avLst/>
              <a:gdLst/>
              <a:ahLst/>
              <a:cxnLst/>
              <a:rect r="r" b="b" t="t" l="l"/>
              <a:pathLst>
                <a:path h="613193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3193"/>
                  </a:lnTo>
                  <a:lnTo>
                    <a:pt x="0" y="613193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45607" cy="641768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92" y="7283934"/>
            <a:ext cx="7743678" cy="513413"/>
            <a:chOff x="0" y="0"/>
            <a:chExt cx="2108845" cy="1398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08845" cy="139818"/>
            </a:xfrm>
            <a:custGeom>
              <a:avLst/>
              <a:gdLst/>
              <a:ahLst/>
              <a:cxnLst/>
              <a:rect r="r" b="b" t="t" l="l"/>
              <a:pathLst>
                <a:path h="139818" w="2108845">
                  <a:moveTo>
                    <a:pt x="0" y="0"/>
                  </a:moveTo>
                  <a:lnTo>
                    <a:pt x="2108845" y="0"/>
                  </a:lnTo>
                  <a:lnTo>
                    <a:pt x="2108845" y="139818"/>
                  </a:lnTo>
                  <a:lnTo>
                    <a:pt x="0" y="139818"/>
                  </a:lnTo>
                  <a:close/>
                </a:path>
              </a:pathLst>
            </a:custGeom>
            <a:solidFill>
              <a:srgbClr val="454B1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108845" cy="168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2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54759" y="7451105"/>
            <a:ext cx="1248840" cy="179070"/>
            <a:chOff x="0" y="0"/>
            <a:chExt cx="1665120" cy="238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298748" y="-19050"/>
              <a:ext cx="136637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atom count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53998" y="7451105"/>
            <a:ext cx="1023487" cy="179070"/>
            <a:chOff x="0" y="0"/>
            <a:chExt cx="1364649" cy="238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98748" y="-19050"/>
              <a:ext cx="106590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valence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336988" y="7451105"/>
            <a:ext cx="1743397" cy="179070"/>
            <a:chOff x="0" y="0"/>
            <a:chExt cx="2324529" cy="238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connectivity consistent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3404" y="7451105"/>
            <a:ext cx="1743397" cy="179070"/>
            <a:chOff x="0" y="0"/>
            <a:chExt cx="2324529" cy="238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skeletal notation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86650" y="7451105"/>
            <a:ext cx="1743397" cy="179070"/>
            <a:chOff x="0" y="0"/>
            <a:chExt cx="2324529" cy="2387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IUPAC name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5400000">
            <a:off x="-70482" y="579188"/>
            <a:ext cx="650482" cy="756374"/>
          </a:xfrm>
          <a:custGeom>
            <a:avLst/>
            <a:gdLst/>
            <a:ahLst/>
            <a:cxnLst/>
            <a:rect r="r" b="b" t="t" l="l"/>
            <a:pathLst>
              <a:path h="756374" w="650482">
                <a:moveTo>
                  <a:pt x="0" y="0"/>
                </a:moveTo>
                <a:lnTo>
                  <a:pt x="650482" y="0"/>
                </a:lnTo>
                <a:lnTo>
                  <a:pt x="650482" y="756375"/>
                </a:lnTo>
                <a:lnTo>
                  <a:pt x="0" y="7563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5102006" y="5019429"/>
            <a:ext cx="1384644" cy="1590059"/>
          </a:xfrm>
          <a:custGeom>
            <a:avLst/>
            <a:gdLst/>
            <a:ahLst/>
            <a:cxnLst/>
            <a:rect r="r" b="b" t="t" l="l"/>
            <a:pathLst>
              <a:path h="1590059" w="1384644">
                <a:moveTo>
                  <a:pt x="0" y="0"/>
                </a:moveTo>
                <a:lnTo>
                  <a:pt x="1384644" y="0"/>
                </a:lnTo>
                <a:lnTo>
                  <a:pt x="1384644" y="1590059"/>
                </a:lnTo>
                <a:lnTo>
                  <a:pt x="0" y="15900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819697" y="186008"/>
            <a:ext cx="6698514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Cycl</a:t>
            </a:r>
            <a:r>
              <a:rPr lang="en-US" sz="2799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ohexane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3818" y="1440743"/>
            <a:ext cx="2908830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MOLECULAR FORMULA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046075" y="1440743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LEWIS STRUCTRE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55711" y="4348077"/>
            <a:ext cx="3675923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CONDENSED STRUCTURAL FORMULA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037967" y="4348077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BOND-LINE FORMULA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9085" y="22807"/>
            <a:ext cx="241482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</a:t>
            </a: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our different chemical languages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055635" y="680045"/>
            <a:ext cx="5462576" cy="68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48"/>
              </a:lnSpc>
              <a:spcBef>
                <a:spcPct val="0"/>
              </a:spcBef>
            </a:pP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Cycl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ohexane appears as a clear c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olorless liquid with a petroleum-like odor. Used to make 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8" tooltip="https://pubchem.ncbi.nlm.nih.gov/compound/nylon"/>
              </a:rPr>
              <a:t>nylon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as a solvent, paint remover, and to make other chemicals.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-1931" y="2054378"/>
            <a:ext cx="3318264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C₆H₁₂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-323134" y="5182275"/>
            <a:ext cx="3318264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(CH</a:t>
            </a:r>
            <a:r>
              <a:rPr lang="en-US" b="true" sz="56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</a:t>
            </a:r>
            <a:r>
              <a:rPr lang="en-US" b="true" sz="56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)</a:t>
            </a:r>
            <a:r>
              <a:rPr lang="en-US" b="true" sz="56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6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643021" y="2323617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263985" y="2578615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062624" y="2578615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263985" y="2968687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071654" y="2968687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685121" y="3181327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AutoShape 51" id="51"/>
          <p:cNvSpPr/>
          <p:nvPr/>
        </p:nvSpPr>
        <p:spPr>
          <a:xfrm flipV="true">
            <a:off x="5436387" y="2545398"/>
            <a:ext cx="173314" cy="116464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H="true" flipV="true">
            <a:off x="5870622" y="2537492"/>
            <a:ext cx="179314" cy="106996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flipV="true">
            <a:off x="6163039" y="2833841"/>
            <a:ext cx="0" cy="20881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 flipV="true">
            <a:off x="5353998" y="2833841"/>
            <a:ext cx="0" cy="20881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 flipH="true" flipV="true">
            <a:off x="5462536" y="3188814"/>
            <a:ext cx="180841" cy="104395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flipH="true">
            <a:off x="5850187" y="3182379"/>
            <a:ext cx="179602" cy="106512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7" id="57"/>
          <p:cNvGrpSpPr/>
          <p:nvPr/>
        </p:nvGrpSpPr>
        <p:grpSpPr>
          <a:xfrm rot="0">
            <a:off x="5578682" y="2173008"/>
            <a:ext cx="271505" cy="207271"/>
            <a:chOff x="0" y="0"/>
            <a:chExt cx="362007" cy="276362"/>
          </a:xfrm>
        </p:grpSpPr>
        <p:sp>
          <p:nvSpPr>
            <p:cNvPr name="AutoShape 58" id="58"/>
            <p:cNvSpPr/>
            <p:nvPr/>
          </p:nvSpPr>
          <p:spPr>
            <a:xfrm flipH="true" flipV="true">
              <a:off x="10283" y="43485"/>
              <a:ext cx="163396" cy="225424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9" id="59"/>
            <p:cNvSpPr/>
            <p:nvPr/>
          </p:nvSpPr>
          <p:spPr>
            <a:xfrm flipV="true">
              <a:off x="249988" y="4569"/>
              <a:ext cx="100169" cy="259770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5462536" y="1932730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785535" y="1912524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grpSp>
        <p:nvGrpSpPr>
          <p:cNvPr name="Group 62" id="62"/>
          <p:cNvGrpSpPr/>
          <p:nvPr/>
        </p:nvGrpSpPr>
        <p:grpSpPr>
          <a:xfrm rot="3636340">
            <a:off x="6193240" y="2540853"/>
            <a:ext cx="271505" cy="207271"/>
            <a:chOff x="0" y="0"/>
            <a:chExt cx="362007" cy="276362"/>
          </a:xfrm>
        </p:grpSpPr>
        <p:sp>
          <p:nvSpPr>
            <p:cNvPr name="AutoShape 63" id="63"/>
            <p:cNvSpPr/>
            <p:nvPr/>
          </p:nvSpPr>
          <p:spPr>
            <a:xfrm flipH="true" flipV="true">
              <a:off x="10283" y="43485"/>
              <a:ext cx="163396" cy="225424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4" id="64"/>
            <p:cNvSpPr/>
            <p:nvPr/>
          </p:nvSpPr>
          <p:spPr>
            <a:xfrm flipV="true">
              <a:off x="249988" y="4569"/>
              <a:ext cx="100169" cy="259770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5" id="65"/>
          <p:cNvGrpSpPr/>
          <p:nvPr/>
        </p:nvGrpSpPr>
        <p:grpSpPr>
          <a:xfrm rot="7156957">
            <a:off x="6231704" y="3086521"/>
            <a:ext cx="271505" cy="207271"/>
            <a:chOff x="0" y="0"/>
            <a:chExt cx="362007" cy="276362"/>
          </a:xfrm>
        </p:grpSpPr>
        <p:sp>
          <p:nvSpPr>
            <p:cNvPr name="AutoShape 66" id="66"/>
            <p:cNvSpPr/>
            <p:nvPr/>
          </p:nvSpPr>
          <p:spPr>
            <a:xfrm flipH="true" flipV="true">
              <a:off x="10283" y="43485"/>
              <a:ext cx="163396" cy="225424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7" id="67"/>
            <p:cNvSpPr/>
            <p:nvPr/>
          </p:nvSpPr>
          <p:spPr>
            <a:xfrm flipV="true">
              <a:off x="249988" y="4569"/>
              <a:ext cx="100169" cy="259770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8" id="68"/>
          <p:cNvGrpSpPr/>
          <p:nvPr/>
        </p:nvGrpSpPr>
        <p:grpSpPr>
          <a:xfrm rot="-10800000">
            <a:off x="5658576" y="3474425"/>
            <a:ext cx="271505" cy="207271"/>
            <a:chOff x="0" y="0"/>
            <a:chExt cx="362007" cy="276362"/>
          </a:xfrm>
        </p:grpSpPr>
        <p:sp>
          <p:nvSpPr>
            <p:cNvPr name="AutoShape 69" id="69"/>
            <p:cNvSpPr/>
            <p:nvPr/>
          </p:nvSpPr>
          <p:spPr>
            <a:xfrm flipH="true" flipV="true">
              <a:off x="10283" y="43485"/>
              <a:ext cx="163396" cy="225424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0" id="70"/>
            <p:cNvSpPr/>
            <p:nvPr/>
          </p:nvSpPr>
          <p:spPr>
            <a:xfrm flipV="true">
              <a:off x="249988" y="4569"/>
              <a:ext cx="100169" cy="259770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1" id="71"/>
          <p:cNvGrpSpPr/>
          <p:nvPr/>
        </p:nvGrpSpPr>
        <p:grpSpPr>
          <a:xfrm rot="-7432265">
            <a:off x="5016733" y="3158149"/>
            <a:ext cx="271505" cy="207271"/>
            <a:chOff x="0" y="0"/>
            <a:chExt cx="362007" cy="276362"/>
          </a:xfrm>
        </p:grpSpPr>
        <p:sp>
          <p:nvSpPr>
            <p:cNvPr name="AutoShape 72" id="72"/>
            <p:cNvSpPr/>
            <p:nvPr/>
          </p:nvSpPr>
          <p:spPr>
            <a:xfrm flipH="true" flipV="true">
              <a:off x="10283" y="43485"/>
              <a:ext cx="163396" cy="225424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3" id="73"/>
            <p:cNvSpPr/>
            <p:nvPr/>
          </p:nvSpPr>
          <p:spPr>
            <a:xfrm flipV="true">
              <a:off x="249988" y="4569"/>
              <a:ext cx="100169" cy="259770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4" id="74"/>
          <p:cNvGrpSpPr/>
          <p:nvPr/>
        </p:nvGrpSpPr>
        <p:grpSpPr>
          <a:xfrm rot="-3480567">
            <a:off x="4992826" y="2591910"/>
            <a:ext cx="271505" cy="207271"/>
            <a:chOff x="0" y="0"/>
            <a:chExt cx="362007" cy="276362"/>
          </a:xfrm>
        </p:grpSpPr>
        <p:sp>
          <p:nvSpPr>
            <p:cNvPr name="AutoShape 75" id="75"/>
            <p:cNvSpPr/>
            <p:nvPr/>
          </p:nvSpPr>
          <p:spPr>
            <a:xfrm flipH="true" flipV="true">
              <a:off x="10283" y="43485"/>
              <a:ext cx="163396" cy="225424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6" id="76"/>
            <p:cNvSpPr/>
            <p:nvPr/>
          </p:nvSpPr>
          <p:spPr>
            <a:xfrm flipV="true">
              <a:off x="249988" y="4569"/>
              <a:ext cx="100169" cy="259770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77" id="77"/>
          <p:cNvSpPr txBox="true"/>
          <p:nvPr/>
        </p:nvSpPr>
        <p:spPr>
          <a:xfrm rot="0">
            <a:off x="6326879" y="2199202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507061" y="2504401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6524248" y="2927252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6436443" y="3250790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5929375" y="3643596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5592813" y="3643596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5102278" y="3346859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4812295" y="3054751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4789950" y="2578615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4918556" y="2252300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3729081" y="93292"/>
            <a:ext cx="3863179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492C18"/>
                </a:solidFill>
                <a:latin typeface="Gatwick"/>
                <a:ea typeface="Gatwick"/>
                <a:cs typeface="Gatwick"/>
                <a:sym typeface="Gatwick"/>
              </a:rPr>
              <a:t>IUPAC Name: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4965" y="-8322"/>
            <a:ext cx="7789043" cy="7805687"/>
          </a:xfrm>
          <a:custGeom>
            <a:avLst/>
            <a:gdLst/>
            <a:ahLst/>
            <a:cxnLst/>
            <a:rect r="r" b="b" t="t" l="l"/>
            <a:pathLst>
              <a:path h="7805687" w="7789043">
                <a:moveTo>
                  <a:pt x="0" y="0"/>
                </a:moveTo>
                <a:lnTo>
                  <a:pt x="7789043" y="0"/>
                </a:lnTo>
                <a:lnTo>
                  <a:pt x="7789043" y="7805687"/>
                </a:lnTo>
                <a:lnTo>
                  <a:pt x="0" y="7805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460" t="-50154" r="0" b="-4954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76154" y="-81276"/>
            <a:ext cx="661827" cy="756374"/>
          </a:xfrm>
          <a:custGeom>
            <a:avLst/>
            <a:gdLst/>
            <a:ahLst/>
            <a:cxnLst/>
            <a:rect r="r" b="b" t="t" l="l"/>
            <a:pathLst>
              <a:path h="756374" w="661827">
                <a:moveTo>
                  <a:pt x="0" y="0"/>
                </a:moveTo>
                <a:lnTo>
                  <a:pt x="661827" y="0"/>
                </a:lnTo>
                <a:lnTo>
                  <a:pt x="661827" y="756375"/>
                </a:lnTo>
                <a:lnTo>
                  <a:pt x="0" y="756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5711" y="1674423"/>
            <a:ext cx="3399849" cy="2483154"/>
            <a:chOff x="0" y="0"/>
            <a:chExt cx="845607" cy="61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5607" cy="617608"/>
            </a:xfrm>
            <a:custGeom>
              <a:avLst/>
              <a:gdLst/>
              <a:ahLst/>
              <a:cxnLst/>
              <a:rect r="r" b="b" t="t" l="l"/>
              <a:pathLst>
                <a:path h="617608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7608"/>
                  </a:lnTo>
                  <a:lnTo>
                    <a:pt x="0" y="617608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45607" cy="646183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39741" y="1674423"/>
            <a:ext cx="3407388" cy="2492679"/>
            <a:chOff x="0" y="0"/>
            <a:chExt cx="847482" cy="6199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7482" cy="619977"/>
            </a:xfrm>
            <a:custGeom>
              <a:avLst/>
              <a:gdLst/>
              <a:ahLst/>
              <a:cxnLst/>
              <a:rect r="r" b="b" t="t" l="l"/>
              <a:pathLst>
                <a:path h="61997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9977"/>
                  </a:lnTo>
                  <a:lnTo>
                    <a:pt x="0" y="61997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47482" cy="64855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31634" y="4581757"/>
            <a:ext cx="3407388" cy="2479494"/>
            <a:chOff x="0" y="0"/>
            <a:chExt cx="847482" cy="6166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7482" cy="616697"/>
            </a:xfrm>
            <a:custGeom>
              <a:avLst/>
              <a:gdLst/>
              <a:ahLst/>
              <a:cxnLst/>
              <a:rect r="r" b="b" t="t" l="l"/>
              <a:pathLst>
                <a:path h="61669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6697"/>
                  </a:lnTo>
                  <a:lnTo>
                    <a:pt x="0" y="61669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47482" cy="64527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5711" y="4581757"/>
            <a:ext cx="3399849" cy="2465404"/>
            <a:chOff x="0" y="0"/>
            <a:chExt cx="845607" cy="6131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5607" cy="613193"/>
            </a:xfrm>
            <a:custGeom>
              <a:avLst/>
              <a:gdLst/>
              <a:ahLst/>
              <a:cxnLst/>
              <a:rect r="r" b="b" t="t" l="l"/>
              <a:pathLst>
                <a:path h="613193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3193"/>
                  </a:lnTo>
                  <a:lnTo>
                    <a:pt x="0" y="613193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45607" cy="641768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92" y="7283934"/>
            <a:ext cx="7743678" cy="513413"/>
            <a:chOff x="0" y="0"/>
            <a:chExt cx="2108845" cy="1398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08845" cy="139818"/>
            </a:xfrm>
            <a:custGeom>
              <a:avLst/>
              <a:gdLst/>
              <a:ahLst/>
              <a:cxnLst/>
              <a:rect r="r" b="b" t="t" l="l"/>
              <a:pathLst>
                <a:path h="139818" w="2108845">
                  <a:moveTo>
                    <a:pt x="0" y="0"/>
                  </a:moveTo>
                  <a:lnTo>
                    <a:pt x="2108845" y="0"/>
                  </a:lnTo>
                  <a:lnTo>
                    <a:pt x="2108845" y="139818"/>
                  </a:lnTo>
                  <a:lnTo>
                    <a:pt x="0" y="139818"/>
                  </a:lnTo>
                  <a:close/>
                </a:path>
              </a:pathLst>
            </a:custGeom>
            <a:solidFill>
              <a:srgbClr val="454B1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108845" cy="168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2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54759" y="7451105"/>
            <a:ext cx="1248840" cy="179070"/>
            <a:chOff x="0" y="0"/>
            <a:chExt cx="1665120" cy="238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298748" y="-19050"/>
              <a:ext cx="136637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atom count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53998" y="7451105"/>
            <a:ext cx="1023487" cy="179070"/>
            <a:chOff x="0" y="0"/>
            <a:chExt cx="1364649" cy="238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98748" y="-19050"/>
              <a:ext cx="106590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valence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336988" y="7451105"/>
            <a:ext cx="1743397" cy="179070"/>
            <a:chOff x="0" y="0"/>
            <a:chExt cx="2324529" cy="238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connectivity consistent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3404" y="7451105"/>
            <a:ext cx="1743397" cy="179070"/>
            <a:chOff x="0" y="0"/>
            <a:chExt cx="2324529" cy="238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skeletal notation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86650" y="7451105"/>
            <a:ext cx="1743397" cy="179070"/>
            <a:chOff x="0" y="0"/>
            <a:chExt cx="2324529" cy="2387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IUPAC name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5400000">
            <a:off x="-70482" y="561963"/>
            <a:ext cx="650482" cy="756374"/>
          </a:xfrm>
          <a:custGeom>
            <a:avLst/>
            <a:gdLst/>
            <a:ahLst/>
            <a:cxnLst/>
            <a:rect r="r" b="b" t="t" l="l"/>
            <a:pathLst>
              <a:path h="756374" w="650482">
                <a:moveTo>
                  <a:pt x="0" y="0"/>
                </a:moveTo>
                <a:lnTo>
                  <a:pt x="650482" y="0"/>
                </a:lnTo>
                <a:lnTo>
                  <a:pt x="650482" y="756374"/>
                </a:lnTo>
                <a:lnTo>
                  <a:pt x="0" y="7563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-322205" y="194072"/>
            <a:ext cx="786855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Cycl</a:t>
            </a:r>
            <a:r>
              <a:rPr lang="en-US" sz="2799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ohexanone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3818" y="1440743"/>
            <a:ext cx="2908830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MOLECULAR FORMULA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046075" y="1440743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LEWIS STRUCTRE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55711" y="4348077"/>
            <a:ext cx="3675923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CONDENSED STRUCTURAL FORMULA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037967" y="4348077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BOND-LINE FORMULA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89085" y="22807"/>
            <a:ext cx="241482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</a:t>
            </a: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our different chemical languages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43250" y="696172"/>
            <a:ext cx="6503095" cy="452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48"/>
              </a:lnSpc>
              <a:spcBef>
                <a:spcPct val="0"/>
              </a:spcBef>
            </a:pP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7" tooltip="https://en.wikipedia.org/wiki/Cyclohexanone"/>
              </a:rPr>
              <a:t>Cycl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8" tooltip="https://en.wikipedia.org/wiki/Cyclohexanone"/>
              </a:rPr>
              <a:t>ohexanone 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9" tooltip="https://en.wikipedia.org/wiki/Cyclohexanone"/>
              </a:rPr>
              <a:t>is an organic compound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that 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10" tooltip="https://en.wikipedia.org/wiki/Cyclohexanone"/>
              </a:rPr>
              <a:t>is a colorless to pale yellow liquid with an odor similar to that of 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11" tooltip="https://chemcess.com/acetone/"/>
              </a:rPr>
              <a:t>acetone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12" tooltip="https://en.wikipedia.org/wiki/Cyclohexanone"/>
              </a:rPr>
              <a:t> that is very soluble in most organic solvents.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5205131" y="4764743"/>
            <a:ext cx="1127556" cy="1988711"/>
          </a:xfrm>
          <a:custGeom>
            <a:avLst/>
            <a:gdLst/>
            <a:ahLst/>
            <a:cxnLst/>
            <a:rect r="r" b="b" t="t" l="l"/>
            <a:pathLst>
              <a:path h="1988711" w="1127556">
                <a:moveTo>
                  <a:pt x="0" y="0"/>
                </a:moveTo>
                <a:lnTo>
                  <a:pt x="1127556" y="0"/>
                </a:lnTo>
                <a:lnTo>
                  <a:pt x="1127556" y="1988712"/>
                </a:lnTo>
                <a:lnTo>
                  <a:pt x="0" y="19887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-199024" y="2150698"/>
            <a:ext cx="3791852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C₆H₁₀O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92" y="5334232"/>
            <a:ext cx="3318264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(CH</a:t>
            </a:r>
            <a:r>
              <a:rPr lang="en-US" b="true" sz="48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</a:t>
            </a:r>
            <a:r>
              <a:rPr lang="en-US" b="true" sz="48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)</a:t>
            </a:r>
            <a:r>
              <a:rPr lang="en-US" b="true" sz="48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5</a:t>
            </a:r>
            <a:r>
              <a:rPr lang="en-US" b="true" sz="48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643021" y="2323617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263985" y="2578615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062624" y="2578615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263985" y="2968687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071654" y="2968687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685121" y="3181327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AutoShape 51" id="51"/>
          <p:cNvSpPr/>
          <p:nvPr/>
        </p:nvSpPr>
        <p:spPr>
          <a:xfrm flipV="true">
            <a:off x="5436387" y="2545398"/>
            <a:ext cx="173314" cy="116464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H="true" flipV="true">
            <a:off x="5870622" y="2537492"/>
            <a:ext cx="179314" cy="106996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flipV="true">
            <a:off x="6163039" y="2833841"/>
            <a:ext cx="0" cy="20881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 flipV="true">
            <a:off x="5353998" y="2833841"/>
            <a:ext cx="0" cy="20881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 flipH="true" flipV="true">
            <a:off x="5462536" y="3188814"/>
            <a:ext cx="180841" cy="104395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flipH="true">
            <a:off x="5850187" y="3182379"/>
            <a:ext cx="179602" cy="106512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7" id="57"/>
          <p:cNvGrpSpPr/>
          <p:nvPr/>
        </p:nvGrpSpPr>
        <p:grpSpPr>
          <a:xfrm rot="3636340">
            <a:off x="6193240" y="2540853"/>
            <a:ext cx="271505" cy="207271"/>
            <a:chOff x="0" y="0"/>
            <a:chExt cx="362007" cy="276362"/>
          </a:xfrm>
        </p:grpSpPr>
        <p:sp>
          <p:nvSpPr>
            <p:cNvPr name="AutoShape 58" id="58"/>
            <p:cNvSpPr/>
            <p:nvPr/>
          </p:nvSpPr>
          <p:spPr>
            <a:xfrm flipH="true" flipV="true">
              <a:off x="10283" y="43485"/>
              <a:ext cx="163396" cy="225424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9" id="59"/>
            <p:cNvSpPr/>
            <p:nvPr/>
          </p:nvSpPr>
          <p:spPr>
            <a:xfrm flipV="true">
              <a:off x="249988" y="4569"/>
              <a:ext cx="100169" cy="259770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0" id="60"/>
          <p:cNvGrpSpPr/>
          <p:nvPr/>
        </p:nvGrpSpPr>
        <p:grpSpPr>
          <a:xfrm rot="7156957">
            <a:off x="6231704" y="3086521"/>
            <a:ext cx="271505" cy="207271"/>
            <a:chOff x="0" y="0"/>
            <a:chExt cx="362007" cy="276362"/>
          </a:xfrm>
        </p:grpSpPr>
        <p:sp>
          <p:nvSpPr>
            <p:cNvPr name="AutoShape 61" id="61"/>
            <p:cNvSpPr/>
            <p:nvPr/>
          </p:nvSpPr>
          <p:spPr>
            <a:xfrm flipH="true" flipV="true">
              <a:off x="10283" y="43485"/>
              <a:ext cx="163396" cy="225424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2" id="62"/>
            <p:cNvSpPr/>
            <p:nvPr/>
          </p:nvSpPr>
          <p:spPr>
            <a:xfrm flipV="true">
              <a:off x="249988" y="4569"/>
              <a:ext cx="100169" cy="259770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3" id="63"/>
          <p:cNvGrpSpPr/>
          <p:nvPr/>
        </p:nvGrpSpPr>
        <p:grpSpPr>
          <a:xfrm rot="-10800000">
            <a:off x="5658576" y="3474425"/>
            <a:ext cx="271505" cy="207271"/>
            <a:chOff x="0" y="0"/>
            <a:chExt cx="362007" cy="276362"/>
          </a:xfrm>
        </p:grpSpPr>
        <p:sp>
          <p:nvSpPr>
            <p:cNvPr name="AutoShape 64" id="64"/>
            <p:cNvSpPr/>
            <p:nvPr/>
          </p:nvSpPr>
          <p:spPr>
            <a:xfrm flipH="true" flipV="true">
              <a:off x="10283" y="43485"/>
              <a:ext cx="163396" cy="225424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5" id="65"/>
            <p:cNvSpPr/>
            <p:nvPr/>
          </p:nvSpPr>
          <p:spPr>
            <a:xfrm flipV="true">
              <a:off x="249988" y="4569"/>
              <a:ext cx="100169" cy="259770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6" id="66"/>
          <p:cNvGrpSpPr/>
          <p:nvPr/>
        </p:nvGrpSpPr>
        <p:grpSpPr>
          <a:xfrm rot="-7432265">
            <a:off x="5016733" y="3158149"/>
            <a:ext cx="271505" cy="207271"/>
            <a:chOff x="0" y="0"/>
            <a:chExt cx="362007" cy="276362"/>
          </a:xfrm>
        </p:grpSpPr>
        <p:sp>
          <p:nvSpPr>
            <p:cNvPr name="AutoShape 67" id="67"/>
            <p:cNvSpPr/>
            <p:nvPr/>
          </p:nvSpPr>
          <p:spPr>
            <a:xfrm flipH="true" flipV="true">
              <a:off x="10283" y="43485"/>
              <a:ext cx="163396" cy="225424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8" id="68"/>
            <p:cNvSpPr/>
            <p:nvPr/>
          </p:nvSpPr>
          <p:spPr>
            <a:xfrm flipV="true">
              <a:off x="249988" y="4569"/>
              <a:ext cx="100169" cy="259770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9" id="69"/>
          <p:cNvGrpSpPr/>
          <p:nvPr/>
        </p:nvGrpSpPr>
        <p:grpSpPr>
          <a:xfrm rot="-3480567">
            <a:off x="4992826" y="2591910"/>
            <a:ext cx="271505" cy="207271"/>
            <a:chOff x="0" y="0"/>
            <a:chExt cx="362007" cy="276362"/>
          </a:xfrm>
        </p:grpSpPr>
        <p:sp>
          <p:nvSpPr>
            <p:cNvPr name="AutoShape 70" id="70"/>
            <p:cNvSpPr/>
            <p:nvPr/>
          </p:nvSpPr>
          <p:spPr>
            <a:xfrm flipH="true" flipV="true">
              <a:off x="10283" y="43485"/>
              <a:ext cx="163396" cy="225424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1" id="71"/>
            <p:cNvSpPr/>
            <p:nvPr/>
          </p:nvSpPr>
          <p:spPr>
            <a:xfrm flipV="true">
              <a:off x="249988" y="4569"/>
              <a:ext cx="100169" cy="259770"/>
            </a:xfrm>
            <a:prstGeom prst="line">
              <a:avLst/>
            </a:prstGeom>
            <a:ln cap="flat" w="25400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72" id="72"/>
          <p:cNvSpPr txBox="true"/>
          <p:nvPr/>
        </p:nvSpPr>
        <p:spPr>
          <a:xfrm rot="0">
            <a:off x="6326879" y="2199202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507061" y="2504401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524248" y="2927252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6436443" y="3250790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5929375" y="3643596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592813" y="3643596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102278" y="3346859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812295" y="3054751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789950" y="2578615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4918556" y="2252300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5610129" y="1857512"/>
            <a:ext cx="100415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O</a:t>
            </a:r>
          </a:p>
        </p:txBody>
      </p:sp>
      <p:sp>
        <p:nvSpPr>
          <p:cNvPr name="AutoShape 83" id="83"/>
          <p:cNvSpPr/>
          <p:nvPr/>
        </p:nvSpPr>
        <p:spPr>
          <a:xfrm>
            <a:off x="5683034" y="2155991"/>
            <a:ext cx="0" cy="20881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>
            <a:off x="5722242" y="2155991"/>
            <a:ext cx="0" cy="20881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5" id="85"/>
          <p:cNvSpPr txBox="true"/>
          <p:nvPr/>
        </p:nvSpPr>
        <p:spPr>
          <a:xfrm rot="-6549702">
            <a:off x="5646231" y="1864328"/>
            <a:ext cx="142204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86" id="86"/>
          <p:cNvSpPr txBox="true"/>
          <p:nvPr/>
        </p:nvSpPr>
        <p:spPr>
          <a:xfrm rot="6746753">
            <a:off x="5595846" y="1859964"/>
            <a:ext cx="142204" cy="29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68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3729081" y="93292"/>
            <a:ext cx="3863179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492C18"/>
                </a:solidFill>
                <a:latin typeface="Gatwick"/>
                <a:ea typeface="Gatwick"/>
                <a:cs typeface="Gatwick"/>
                <a:sym typeface="Gatwick"/>
              </a:rPr>
              <a:t>IUPAC Name: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4965" y="-8322"/>
            <a:ext cx="7789043" cy="7805687"/>
          </a:xfrm>
          <a:custGeom>
            <a:avLst/>
            <a:gdLst/>
            <a:ahLst/>
            <a:cxnLst/>
            <a:rect r="r" b="b" t="t" l="l"/>
            <a:pathLst>
              <a:path h="7805687" w="7789043">
                <a:moveTo>
                  <a:pt x="0" y="0"/>
                </a:moveTo>
                <a:lnTo>
                  <a:pt x="7789043" y="0"/>
                </a:lnTo>
                <a:lnTo>
                  <a:pt x="7789043" y="7805687"/>
                </a:lnTo>
                <a:lnTo>
                  <a:pt x="0" y="7805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460" t="-50154" r="0" b="-4954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76154" y="-81276"/>
            <a:ext cx="661827" cy="756374"/>
          </a:xfrm>
          <a:custGeom>
            <a:avLst/>
            <a:gdLst/>
            <a:ahLst/>
            <a:cxnLst/>
            <a:rect r="r" b="b" t="t" l="l"/>
            <a:pathLst>
              <a:path h="756374" w="661827">
                <a:moveTo>
                  <a:pt x="0" y="0"/>
                </a:moveTo>
                <a:lnTo>
                  <a:pt x="661827" y="0"/>
                </a:lnTo>
                <a:lnTo>
                  <a:pt x="661827" y="756375"/>
                </a:lnTo>
                <a:lnTo>
                  <a:pt x="0" y="756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5711" y="1674423"/>
            <a:ext cx="3399849" cy="2483154"/>
            <a:chOff x="0" y="0"/>
            <a:chExt cx="845607" cy="61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5607" cy="617608"/>
            </a:xfrm>
            <a:custGeom>
              <a:avLst/>
              <a:gdLst/>
              <a:ahLst/>
              <a:cxnLst/>
              <a:rect r="r" b="b" t="t" l="l"/>
              <a:pathLst>
                <a:path h="617608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7608"/>
                  </a:lnTo>
                  <a:lnTo>
                    <a:pt x="0" y="617608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45607" cy="646183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39741" y="1674423"/>
            <a:ext cx="3407388" cy="2492679"/>
            <a:chOff x="0" y="0"/>
            <a:chExt cx="847482" cy="6199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7482" cy="619977"/>
            </a:xfrm>
            <a:custGeom>
              <a:avLst/>
              <a:gdLst/>
              <a:ahLst/>
              <a:cxnLst/>
              <a:rect r="r" b="b" t="t" l="l"/>
              <a:pathLst>
                <a:path h="61997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9977"/>
                  </a:lnTo>
                  <a:lnTo>
                    <a:pt x="0" y="61997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47482" cy="64855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31634" y="4581757"/>
            <a:ext cx="3407388" cy="2479494"/>
            <a:chOff x="0" y="0"/>
            <a:chExt cx="847482" cy="6166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7482" cy="616697"/>
            </a:xfrm>
            <a:custGeom>
              <a:avLst/>
              <a:gdLst/>
              <a:ahLst/>
              <a:cxnLst/>
              <a:rect r="r" b="b" t="t" l="l"/>
              <a:pathLst>
                <a:path h="61669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6697"/>
                  </a:lnTo>
                  <a:lnTo>
                    <a:pt x="0" y="61669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47482" cy="64527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5711" y="4581757"/>
            <a:ext cx="3399849" cy="2465404"/>
            <a:chOff x="0" y="0"/>
            <a:chExt cx="845607" cy="6131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5607" cy="613193"/>
            </a:xfrm>
            <a:custGeom>
              <a:avLst/>
              <a:gdLst/>
              <a:ahLst/>
              <a:cxnLst/>
              <a:rect r="r" b="b" t="t" l="l"/>
              <a:pathLst>
                <a:path h="613193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3193"/>
                  </a:lnTo>
                  <a:lnTo>
                    <a:pt x="0" y="613193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45607" cy="641768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92" y="7283934"/>
            <a:ext cx="7743678" cy="513413"/>
            <a:chOff x="0" y="0"/>
            <a:chExt cx="2108845" cy="1398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08845" cy="139818"/>
            </a:xfrm>
            <a:custGeom>
              <a:avLst/>
              <a:gdLst/>
              <a:ahLst/>
              <a:cxnLst/>
              <a:rect r="r" b="b" t="t" l="l"/>
              <a:pathLst>
                <a:path h="139818" w="2108845">
                  <a:moveTo>
                    <a:pt x="0" y="0"/>
                  </a:moveTo>
                  <a:lnTo>
                    <a:pt x="2108845" y="0"/>
                  </a:lnTo>
                  <a:lnTo>
                    <a:pt x="2108845" y="139818"/>
                  </a:lnTo>
                  <a:lnTo>
                    <a:pt x="0" y="139818"/>
                  </a:lnTo>
                  <a:close/>
                </a:path>
              </a:pathLst>
            </a:custGeom>
            <a:solidFill>
              <a:srgbClr val="454B1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108845" cy="168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2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54759" y="7451105"/>
            <a:ext cx="1248840" cy="179070"/>
            <a:chOff x="0" y="0"/>
            <a:chExt cx="1665120" cy="238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298748" y="-19050"/>
              <a:ext cx="136637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atom count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53998" y="7451105"/>
            <a:ext cx="1023487" cy="179070"/>
            <a:chOff x="0" y="0"/>
            <a:chExt cx="1364649" cy="238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98748" y="-19050"/>
              <a:ext cx="106590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valence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336988" y="7451105"/>
            <a:ext cx="1743397" cy="179070"/>
            <a:chOff x="0" y="0"/>
            <a:chExt cx="2324529" cy="238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connectivity consistent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3404" y="7451105"/>
            <a:ext cx="1743397" cy="179070"/>
            <a:chOff x="0" y="0"/>
            <a:chExt cx="2324529" cy="238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skeletal notation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86650" y="7451105"/>
            <a:ext cx="1743397" cy="179070"/>
            <a:chOff x="0" y="0"/>
            <a:chExt cx="2324529" cy="2387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IUPAC name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5400000">
            <a:off x="-74264" y="556297"/>
            <a:ext cx="658045" cy="756374"/>
          </a:xfrm>
          <a:custGeom>
            <a:avLst/>
            <a:gdLst/>
            <a:ahLst/>
            <a:cxnLst/>
            <a:rect r="r" b="b" t="t" l="l"/>
            <a:pathLst>
              <a:path h="756374" w="658045">
                <a:moveTo>
                  <a:pt x="0" y="0"/>
                </a:moveTo>
                <a:lnTo>
                  <a:pt x="658046" y="0"/>
                </a:lnTo>
                <a:lnTo>
                  <a:pt x="658046" y="756374"/>
                </a:lnTo>
                <a:lnTo>
                  <a:pt x="0" y="7563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382185" y="5204451"/>
            <a:ext cx="2706285" cy="1234105"/>
          </a:xfrm>
          <a:custGeom>
            <a:avLst/>
            <a:gdLst/>
            <a:ahLst/>
            <a:cxnLst/>
            <a:rect r="r" b="b" t="t" l="l"/>
            <a:pathLst>
              <a:path h="1234105" w="2706285">
                <a:moveTo>
                  <a:pt x="0" y="0"/>
                </a:moveTo>
                <a:lnTo>
                  <a:pt x="2706286" y="0"/>
                </a:lnTo>
                <a:lnTo>
                  <a:pt x="2706286" y="1234105"/>
                </a:lnTo>
                <a:lnTo>
                  <a:pt x="0" y="1234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33487" y="309562"/>
            <a:ext cx="7313642" cy="574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84"/>
              </a:lnSpc>
            </a:pPr>
            <a:r>
              <a:rPr lang="en-US" sz="2400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Acet</a:t>
            </a:r>
            <a:r>
              <a:rPr lang="en-US" sz="2400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aminophen</a:t>
            </a:r>
          </a:p>
          <a:p>
            <a:pPr algn="r">
              <a:lnSpc>
                <a:spcPts val="2184"/>
              </a:lnSpc>
              <a:spcBef>
                <a:spcPct val="0"/>
              </a:spcBef>
            </a:pPr>
            <a:r>
              <a:rPr lang="en-US" sz="2400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(paracetamol)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3818" y="1440743"/>
            <a:ext cx="2908830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MOLECULAR FORMULA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046075" y="1440743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LEWIS STRUCTRE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55711" y="4348077"/>
            <a:ext cx="3675923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CONDENSED STRUCTURAL FORMULA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037967" y="4348077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BOND-LINE FORMULA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9085" y="22807"/>
            <a:ext cx="241482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</a:t>
            </a: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our different chemical languages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79179" y="940879"/>
            <a:ext cx="6567950" cy="522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73"/>
              </a:lnSpc>
              <a:spcBef>
                <a:spcPct val="0"/>
              </a:spcBef>
            </a:pP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Acet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aminophen (paracetamol), also comm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only known as </a:t>
            </a:r>
            <a:r>
              <a:rPr lang="en-US" sz="1320" i="true">
                <a:solidFill>
                  <a:srgbClr val="454B1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Tylenol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is the most commonly taken analgesic worldwide and is recommended as first-line therapy in pain conditions by the World Health Organization (WHO).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374710" y="58230"/>
            <a:ext cx="3064312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492C1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IUPAC Name: </a:t>
            </a: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N-(4-hydroxyphenyl)a</a:t>
            </a: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cetamide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-377432" y="2301955"/>
            <a:ext cx="4041673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C₈H₉NO₂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45976" y="5496157"/>
            <a:ext cx="3318264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p-HOC</a:t>
            </a:r>
            <a:r>
              <a:rPr lang="en-US" b="true" sz="2799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6</a:t>
            </a:r>
            <a:r>
              <a:rPr lang="en-US" b="true" sz="2799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</a:t>
            </a:r>
            <a:r>
              <a:rPr lang="en-US" b="true" sz="2799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4</a:t>
            </a:r>
            <a:r>
              <a:rPr lang="en-US" b="true" sz="2799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NHCOCH</a:t>
            </a:r>
            <a:r>
              <a:rPr lang="en-US" b="true" sz="2799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184778" y="2379050"/>
            <a:ext cx="90634" cy="26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sz="151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842664" y="2609209"/>
            <a:ext cx="90634" cy="26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sz="151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563509" y="2609209"/>
            <a:ext cx="90634" cy="26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sz="151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842664" y="2961285"/>
            <a:ext cx="90634" cy="26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sz="151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571659" y="2961285"/>
            <a:ext cx="90634" cy="26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sz="151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AutoShape 51" id="51"/>
          <p:cNvSpPr/>
          <p:nvPr/>
        </p:nvSpPr>
        <p:spPr>
          <a:xfrm flipH="true" flipV="true">
            <a:off x="6390209" y="2575804"/>
            <a:ext cx="161847" cy="96574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V="true">
            <a:off x="6654502" y="2848171"/>
            <a:ext cx="0" cy="18847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flipV="true">
            <a:off x="5923909" y="2843285"/>
            <a:ext cx="0" cy="18847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 flipH="true" flipV="true">
            <a:off x="6017980" y="3198892"/>
            <a:ext cx="163226" cy="94226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 flipH="true">
            <a:off x="6371765" y="3157873"/>
            <a:ext cx="162108" cy="96136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flipH="true" flipV="true">
            <a:off x="6260304" y="2258546"/>
            <a:ext cx="0" cy="18847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>
            <a:off x="6716804" y="3194961"/>
            <a:ext cx="169240" cy="8293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>
            <a:off x="6294248" y="3422749"/>
            <a:ext cx="0" cy="18847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 flipH="true">
            <a:off x="5673531" y="3144907"/>
            <a:ext cx="170676" cy="79943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 flipH="true" flipV="true">
            <a:off x="5674509" y="2611376"/>
            <a:ext cx="173003" cy="74773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1" id="61"/>
          <p:cNvSpPr txBox="true"/>
          <p:nvPr/>
        </p:nvSpPr>
        <p:spPr>
          <a:xfrm rot="0">
            <a:off x="6222778" y="3153212"/>
            <a:ext cx="90634" cy="26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sz="151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185100" y="1993080"/>
            <a:ext cx="90634" cy="26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sz="151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934850" y="3146778"/>
            <a:ext cx="90634" cy="26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sz="151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230095" y="3568347"/>
            <a:ext cx="90634" cy="26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sz="151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501688" y="3111646"/>
            <a:ext cx="90634" cy="26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sz="151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512476" y="2412177"/>
            <a:ext cx="90634" cy="26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sz="151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AutoShape 67" id="67"/>
          <p:cNvSpPr/>
          <p:nvPr/>
        </p:nvSpPr>
        <p:spPr>
          <a:xfrm flipV="true">
            <a:off x="5968805" y="2575316"/>
            <a:ext cx="156432" cy="10512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 flipV="true">
            <a:off x="5980822" y="2600591"/>
            <a:ext cx="156432" cy="10512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 flipH="true" flipV="true">
            <a:off x="6032598" y="3170600"/>
            <a:ext cx="163226" cy="94226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 flipV="true">
            <a:off x="6624767" y="2848171"/>
            <a:ext cx="0" cy="18847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1" id="71"/>
          <p:cNvSpPr txBox="true"/>
          <p:nvPr/>
        </p:nvSpPr>
        <p:spPr>
          <a:xfrm rot="0">
            <a:off x="6896311" y="2381869"/>
            <a:ext cx="172643" cy="26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  <a:spcBef>
                <a:spcPct val="0"/>
              </a:spcBef>
            </a:pPr>
            <a:r>
              <a:rPr lang="en-US" sz="156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O</a:t>
            </a:r>
          </a:p>
        </p:txBody>
      </p:sp>
      <p:sp>
        <p:nvSpPr>
          <p:cNvPr name="AutoShape 72" id="72"/>
          <p:cNvSpPr/>
          <p:nvPr/>
        </p:nvSpPr>
        <p:spPr>
          <a:xfrm flipH="true">
            <a:off x="6730781" y="2568593"/>
            <a:ext cx="156734" cy="11426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3" id="73"/>
          <p:cNvSpPr txBox="true"/>
          <p:nvPr/>
        </p:nvSpPr>
        <p:spPr>
          <a:xfrm rot="921344">
            <a:off x="6929098" y="2454094"/>
            <a:ext cx="132092" cy="26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  <a:spcBef>
                <a:spcPct val="0"/>
              </a:spcBef>
            </a:pPr>
            <a:r>
              <a:rPr lang="en-US" sz="156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74" id="74"/>
          <p:cNvSpPr txBox="true"/>
          <p:nvPr/>
        </p:nvSpPr>
        <p:spPr>
          <a:xfrm rot="-4894593">
            <a:off x="6959770" y="2394886"/>
            <a:ext cx="132092" cy="26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  <a:spcBef>
                <a:spcPct val="0"/>
              </a:spcBef>
            </a:pPr>
            <a:r>
              <a:rPr lang="en-US" sz="156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AutoShape 75" id="75"/>
          <p:cNvSpPr/>
          <p:nvPr/>
        </p:nvSpPr>
        <p:spPr>
          <a:xfrm>
            <a:off x="6991650" y="2232887"/>
            <a:ext cx="0" cy="19396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6" id="76"/>
          <p:cNvSpPr txBox="true"/>
          <p:nvPr/>
        </p:nvSpPr>
        <p:spPr>
          <a:xfrm rot="0">
            <a:off x="6934850" y="1971271"/>
            <a:ext cx="90634" cy="26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sz="151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AutoShape 77" id="77"/>
          <p:cNvSpPr/>
          <p:nvPr/>
        </p:nvSpPr>
        <p:spPr>
          <a:xfrm flipV="true">
            <a:off x="5580155" y="3406464"/>
            <a:ext cx="4378" cy="18841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8" id="78"/>
          <p:cNvSpPr txBox="true"/>
          <p:nvPr/>
        </p:nvSpPr>
        <p:spPr>
          <a:xfrm rot="0">
            <a:off x="5513342" y="3556784"/>
            <a:ext cx="90634" cy="26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sz="151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AutoShape 79" id="79"/>
          <p:cNvSpPr/>
          <p:nvPr/>
        </p:nvSpPr>
        <p:spPr>
          <a:xfrm flipH="true" flipV="true">
            <a:off x="5319398" y="3165208"/>
            <a:ext cx="172580" cy="75745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0" id="80"/>
          <p:cNvSpPr txBox="true"/>
          <p:nvPr/>
        </p:nvSpPr>
        <p:spPr>
          <a:xfrm rot="0">
            <a:off x="5163310" y="2956591"/>
            <a:ext cx="90634" cy="26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sz="151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AutoShape 81" id="81"/>
          <p:cNvSpPr/>
          <p:nvPr/>
        </p:nvSpPr>
        <p:spPr>
          <a:xfrm flipH="true" flipV="true">
            <a:off x="5195513" y="2822464"/>
            <a:ext cx="3559" cy="188437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flipH="true" flipV="true">
            <a:off x="5223267" y="2826064"/>
            <a:ext cx="3559" cy="188437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3" id="83"/>
          <p:cNvSpPr txBox="true"/>
          <p:nvPr/>
        </p:nvSpPr>
        <p:spPr>
          <a:xfrm rot="0">
            <a:off x="5124849" y="2577845"/>
            <a:ext cx="172643" cy="26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  <a:spcBef>
                <a:spcPct val="0"/>
              </a:spcBef>
            </a:pPr>
            <a:r>
              <a:rPr lang="en-US" sz="156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O</a:t>
            </a:r>
          </a:p>
        </p:txBody>
      </p:sp>
      <p:sp>
        <p:nvSpPr>
          <p:cNvPr name="TextBox 84" id="84"/>
          <p:cNvSpPr txBox="true"/>
          <p:nvPr/>
        </p:nvSpPr>
        <p:spPr>
          <a:xfrm rot="2898300">
            <a:off x="5283343" y="2464197"/>
            <a:ext cx="132092" cy="26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  <a:spcBef>
                <a:spcPct val="0"/>
              </a:spcBef>
            </a:pPr>
            <a:r>
              <a:rPr lang="en-US" sz="156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85" id="85"/>
          <p:cNvSpPr txBox="true"/>
          <p:nvPr/>
        </p:nvSpPr>
        <p:spPr>
          <a:xfrm rot="-3748477">
            <a:off x="4978092" y="2501191"/>
            <a:ext cx="132092" cy="26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  <a:spcBef>
                <a:spcPct val="0"/>
              </a:spcBef>
            </a:pPr>
            <a:r>
              <a:rPr lang="en-US" sz="156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4784959" y="2958890"/>
            <a:ext cx="89556" cy="27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1"/>
              </a:lnSpc>
              <a:spcBef>
                <a:spcPct val="0"/>
              </a:spcBef>
            </a:pPr>
            <a:r>
              <a:rPr lang="en-US" sz="1501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4784959" y="2574858"/>
            <a:ext cx="89556" cy="27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1"/>
              </a:lnSpc>
              <a:spcBef>
                <a:spcPct val="0"/>
              </a:spcBef>
            </a:pPr>
            <a:r>
              <a:rPr lang="en-US" sz="1501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4784959" y="3331399"/>
            <a:ext cx="89556" cy="27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1"/>
              </a:lnSpc>
              <a:spcBef>
                <a:spcPct val="0"/>
              </a:spcBef>
            </a:pPr>
            <a:r>
              <a:rPr lang="en-US" sz="1501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4382185" y="2955485"/>
            <a:ext cx="89556" cy="27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1"/>
              </a:lnSpc>
              <a:spcBef>
                <a:spcPct val="0"/>
              </a:spcBef>
            </a:pPr>
            <a:r>
              <a:rPr lang="en-US" sz="1501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AutoShape 90" id="90"/>
          <p:cNvSpPr/>
          <p:nvPr/>
        </p:nvSpPr>
        <p:spPr>
          <a:xfrm>
            <a:off x="4551791" y="3127035"/>
            <a:ext cx="186230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>
            <a:off x="4854458" y="3230534"/>
            <a:ext cx="0" cy="18623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>
            <a:off x="4847649" y="2847929"/>
            <a:ext cx="0" cy="18623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flipH="true">
            <a:off x="4962573" y="3122255"/>
            <a:ext cx="188470" cy="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4" id="94"/>
          <p:cNvSpPr txBox="true"/>
          <p:nvPr/>
        </p:nvSpPr>
        <p:spPr>
          <a:xfrm rot="0">
            <a:off x="5508824" y="2929521"/>
            <a:ext cx="132092" cy="26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  <a:spcBef>
                <a:spcPct val="0"/>
              </a:spcBef>
            </a:pPr>
            <a:r>
              <a:rPr lang="en-US" sz="1563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4965" y="-8322"/>
            <a:ext cx="7789043" cy="7805687"/>
          </a:xfrm>
          <a:custGeom>
            <a:avLst/>
            <a:gdLst/>
            <a:ahLst/>
            <a:cxnLst/>
            <a:rect r="r" b="b" t="t" l="l"/>
            <a:pathLst>
              <a:path h="7805687" w="7789043">
                <a:moveTo>
                  <a:pt x="0" y="0"/>
                </a:moveTo>
                <a:lnTo>
                  <a:pt x="7789043" y="0"/>
                </a:lnTo>
                <a:lnTo>
                  <a:pt x="7789043" y="7805687"/>
                </a:lnTo>
                <a:lnTo>
                  <a:pt x="0" y="7805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460" t="-50154" r="0" b="-4954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76154" y="-81276"/>
            <a:ext cx="661827" cy="756374"/>
          </a:xfrm>
          <a:custGeom>
            <a:avLst/>
            <a:gdLst/>
            <a:ahLst/>
            <a:cxnLst/>
            <a:rect r="r" b="b" t="t" l="l"/>
            <a:pathLst>
              <a:path h="756374" w="661827">
                <a:moveTo>
                  <a:pt x="0" y="0"/>
                </a:moveTo>
                <a:lnTo>
                  <a:pt x="661827" y="0"/>
                </a:lnTo>
                <a:lnTo>
                  <a:pt x="661827" y="756375"/>
                </a:lnTo>
                <a:lnTo>
                  <a:pt x="0" y="756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5711" y="1674423"/>
            <a:ext cx="3399849" cy="2483154"/>
            <a:chOff x="0" y="0"/>
            <a:chExt cx="845607" cy="61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5607" cy="617608"/>
            </a:xfrm>
            <a:custGeom>
              <a:avLst/>
              <a:gdLst/>
              <a:ahLst/>
              <a:cxnLst/>
              <a:rect r="r" b="b" t="t" l="l"/>
              <a:pathLst>
                <a:path h="617608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7608"/>
                  </a:lnTo>
                  <a:lnTo>
                    <a:pt x="0" y="617608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45607" cy="646183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39741" y="1674423"/>
            <a:ext cx="3407388" cy="2492679"/>
            <a:chOff x="0" y="0"/>
            <a:chExt cx="847482" cy="6199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7482" cy="619977"/>
            </a:xfrm>
            <a:custGeom>
              <a:avLst/>
              <a:gdLst/>
              <a:ahLst/>
              <a:cxnLst/>
              <a:rect r="r" b="b" t="t" l="l"/>
              <a:pathLst>
                <a:path h="61997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9977"/>
                  </a:lnTo>
                  <a:lnTo>
                    <a:pt x="0" y="61997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47482" cy="64855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31634" y="4581757"/>
            <a:ext cx="3407388" cy="2479494"/>
            <a:chOff x="0" y="0"/>
            <a:chExt cx="847482" cy="6166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7482" cy="616697"/>
            </a:xfrm>
            <a:custGeom>
              <a:avLst/>
              <a:gdLst/>
              <a:ahLst/>
              <a:cxnLst/>
              <a:rect r="r" b="b" t="t" l="l"/>
              <a:pathLst>
                <a:path h="61669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6697"/>
                  </a:lnTo>
                  <a:lnTo>
                    <a:pt x="0" y="61669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47482" cy="64527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5711" y="4581757"/>
            <a:ext cx="3399849" cy="2465404"/>
            <a:chOff x="0" y="0"/>
            <a:chExt cx="845607" cy="6131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5607" cy="613193"/>
            </a:xfrm>
            <a:custGeom>
              <a:avLst/>
              <a:gdLst/>
              <a:ahLst/>
              <a:cxnLst/>
              <a:rect r="r" b="b" t="t" l="l"/>
              <a:pathLst>
                <a:path h="613193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3193"/>
                  </a:lnTo>
                  <a:lnTo>
                    <a:pt x="0" y="613193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45607" cy="641768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92" y="7283934"/>
            <a:ext cx="7743678" cy="513413"/>
            <a:chOff x="0" y="0"/>
            <a:chExt cx="2108845" cy="1398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08845" cy="139818"/>
            </a:xfrm>
            <a:custGeom>
              <a:avLst/>
              <a:gdLst/>
              <a:ahLst/>
              <a:cxnLst/>
              <a:rect r="r" b="b" t="t" l="l"/>
              <a:pathLst>
                <a:path h="139818" w="2108845">
                  <a:moveTo>
                    <a:pt x="0" y="0"/>
                  </a:moveTo>
                  <a:lnTo>
                    <a:pt x="2108845" y="0"/>
                  </a:lnTo>
                  <a:lnTo>
                    <a:pt x="2108845" y="139818"/>
                  </a:lnTo>
                  <a:lnTo>
                    <a:pt x="0" y="139818"/>
                  </a:lnTo>
                  <a:close/>
                </a:path>
              </a:pathLst>
            </a:custGeom>
            <a:solidFill>
              <a:srgbClr val="454B1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108845" cy="168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2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54759" y="7451105"/>
            <a:ext cx="1248840" cy="179070"/>
            <a:chOff x="0" y="0"/>
            <a:chExt cx="1665120" cy="238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298748" y="-19050"/>
              <a:ext cx="136637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atom count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53998" y="7451105"/>
            <a:ext cx="1023487" cy="179070"/>
            <a:chOff x="0" y="0"/>
            <a:chExt cx="1364649" cy="238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98748" y="-19050"/>
              <a:ext cx="106590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valence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336988" y="7451105"/>
            <a:ext cx="1743397" cy="179070"/>
            <a:chOff x="0" y="0"/>
            <a:chExt cx="2324529" cy="238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connectivity consistent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3404" y="7451105"/>
            <a:ext cx="1743397" cy="179070"/>
            <a:chOff x="0" y="0"/>
            <a:chExt cx="2324529" cy="238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skeletal notation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86650" y="7451105"/>
            <a:ext cx="1743397" cy="179070"/>
            <a:chOff x="0" y="0"/>
            <a:chExt cx="2324529" cy="2387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IUPAC name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5400000">
            <a:off x="-70482" y="574879"/>
            <a:ext cx="650482" cy="756374"/>
          </a:xfrm>
          <a:custGeom>
            <a:avLst/>
            <a:gdLst/>
            <a:ahLst/>
            <a:cxnLst/>
            <a:rect r="r" b="b" t="t" l="l"/>
            <a:pathLst>
              <a:path h="756374" w="650482">
                <a:moveTo>
                  <a:pt x="0" y="0"/>
                </a:moveTo>
                <a:lnTo>
                  <a:pt x="650482" y="0"/>
                </a:lnTo>
                <a:lnTo>
                  <a:pt x="650482" y="756374"/>
                </a:lnTo>
                <a:lnTo>
                  <a:pt x="0" y="7563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529912" y="4807527"/>
            <a:ext cx="2465248" cy="2027954"/>
          </a:xfrm>
          <a:custGeom>
            <a:avLst/>
            <a:gdLst/>
            <a:ahLst/>
            <a:cxnLst/>
            <a:rect r="r" b="b" t="t" l="l"/>
            <a:pathLst>
              <a:path h="2027954" w="2465248">
                <a:moveTo>
                  <a:pt x="0" y="0"/>
                </a:moveTo>
                <a:lnTo>
                  <a:pt x="2465248" y="0"/>
                </a:lnTo>
                <a:lnTo>
                  <a:pt x="2465248" y="2027954"/>
                </a:lnTo>
                <a:lnTo>
                  <a:pt x="0" y="20279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5204217" y="2689404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574053" y="3256698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918461" y="2904541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267607" y="3445555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AutoShape 40" id="40"/>
          <p:cNvSpPr/>
          <p:nvPr/>
        </p:nvSpPr>
        <p:spPr>
          <a:xfrm flipH="true" flipV="true">
            <a:off x="5651302" y="3125608"/>
            <a:ext cx="7035" cy="17691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flipV="true">
            <a:off x="5053235" y="2895871"/>
            <a:ext cx="148323" cy="96697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H="true" flipV="true">
            <a:off x="5108103" y="3459053"/>
            <a:ext cx="158829" cy="78252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4971116" y="3267654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5335531" y="2839415"/>
            <a:ext cx="183704" cy="108076"/>
            <a:chOff x="0" y="0"/>
            <a:chExt cx="244939" cy="144101"/>
          </a:xfrm>
        </p:grpSpPr>
        <p:sp>
          <p:nvSpPr>
            <p:cNvPr name="AutoShape 45" id="45"/>
            <p:cNvSpPr/>
            <p:nvPr/>
          </p:nvSpPr>
          <p:spPr>
            <a:xfrm>
              <a:off x="22962" y="10983"/>
              <a:ext cx="217315" cy="92236"/>
            </a:xfrm>
            <a:prstGeom prst="line">
              <a:avLst/>
            </a:prstGeom>
            <a:ln cap="flat" w="23862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>
              <a:off x="4661" y="40883"/>
              <a:ext cx="217315" cy="92236"/>
            </a:xfrm>
            <a:prstGeom prst="line">
              <a:avLst/>
            </a:prstGeom>
            <a:ln cap="flat" w="23862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4961030" y="3148855"/>
            <a:ext cx="57226" cy="180780"/>
            <a:chOff x="0" y="0"/>
            <a:chExt cx="76302" cy="241040"/>
          </a:xfrm>
        </p:grpSpPr>
        <p:sp>
          <p:nvSpPr>
            <p:cNvPr name="AutoShape 48" id="48"/>
            <p:cNvSpPr/>
            <p:nvPr/>
          </p:nvSpPr>
          <p:spPr>
            <a:xfrm flipH="true" flipV="true">
              <a:off x="11914" y="4661"/>
              <a:ext cx="12787" cy="235733"/>
            </a:xfrm>
            <a:prstGeom prst="line">
              <a:avLst/>
            </a:prstGeom>
            <a:ln cap="flat" w="23862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 flipH="true" flipV="true">
              <a:off x="51601" y="646"/>
              <a:ext cx="12787" cy="235733"/>
            </a:xfrm>
            <a:prstGeom prst="line">
              <a:avLst/>
            </a:prstGeom>
            <a:ln cap="flat" w="23862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50" id="50"/>
          <p:cNvSpPr/>
          <p:nvPr/>
        </p:nvSpPr>
        <p:spPr>
          <a:xfrm flipV="true">
            <a:off x="5389242" y="3433113"/>
            <a:ext cx="148323" cy="96697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1" id="51"/>
          <p:cNvSpPr txBox="true"/>
          <p:nvPr/>
        </p:nvSpPr>
        <p:spPr>
          <a:xfrm rot="0">
            <a:off x="689085" y="249502"/>
            <a:ext cx="6883525" cy="55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42"/>
              </a:lnSpc>
            </a:pPr>
            <a:r>
              <a:rPr lang="en-US" sz="2100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As</a:t>
            </a:r>
            <a:r>
              <a:rPr lang="en-US" sz="2100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pirin</a:t>
            </a:r>
          </a:p>
          <a:p>
            <a:pPr algn="r">
              <a:lnSpc>
                <a:spcPts val="2142"/>
              </a:lnSpc>
              <a:spcBef>
                <a:spcPct val="0"/>
              </a:spcBef>
            </a:pPr>
            <a:r>
              <a:rPr lang="en-US" sz="2100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(acetylsalicylic acid)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63818" y="1440743"/>
            <a:ext cx="2908830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MOLECULAR FORMULA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046075" y="1440743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LEWIS STRUCTRE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55711" y="4348077"/>
            <a:ext cx="3675923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CONDENSED STRUCTURAL FORMULA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037967" y="4348077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BOND-LINE FORMULA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89085" y="22807"/>
            <a:ext cx="241482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</a:t>
            </a: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our different chemical languages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85307" y="823523"/>
            <a:ext cx="6661038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Aspi</a:t>
            </a:r>
            <a:r>
              <a:rPr lang="en-US" sz="120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rin (acetylsalicylic acid) is one of the oldest and most comm</a:t>
            </a:r>
            <a:r>
              <a:rPr lang="en-US" sz="120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only used non-steroidal anti-inflammatory </a:t>
            </a:r>
            <a:r>
              <a:rPr lang="en-US" sz="120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8" tooltip="https://www.medicinenet.com/drugs_what_you_should_know_about_your_drugs/article.htm"/>
              </a:rPr>
              <a:t>drugs</a:t>
            </a:r>
            <a:r>
              <a:rPr lang="en-US" sz="120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(NSAIDs) for treating mild-to-moderate </a:t>
            </a:r>
            <a:r>
              <a:rPr lang="en-US" sz="120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9" tooltip="https://www.medicinenet.com/pain_management/article.htm"/>
              </a:rPr>
              <a:t>pain</a:t>
            </a:r>
            <a:r>
              <a:rPr lang="en-US" sz="120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</a:t>
            </a:r>
            <a:r>
              <a:rPr lang="en-US" sz="120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10" tooltip="https://www.medicinenet.com/aches_pain_fever/article.htm"/>
              </a:rPr>
              <a:t>fever</a:t>
            </a:r>
            <a:r>
              <a:rPr lang="en-US" sz="120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and inflammation from various causes.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837674" y="22807"/>
            <a:ext cx="2708672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492C1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IUPAC Name: </a:t>
            </a: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2-(Ac</a:t>
            </a: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etyloxy)benzoic acid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-1931" y="2092478"/>
            <a:ext cx="3588499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C₉H₈O₄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63818" y="5477107"/>
            <a:ext cx="3318264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</a:t>
            </a:r>
            <a:r>
              <a:rPr lang="en-US" b="true" sz="2799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  <a:r>
              <a:rPr lang="en-US" b="true" sz="2799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COOC</a:t>
            </a:r>
            <a:r>
              <a:rPr lang="en-US" b="true" sz="2799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6</a:t>
            </a:r>
            <a:r>
              <a:rPr lang="en-US" b="true" sz="2799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</a:t>
            </a:r>
            <a:r>
              <a:rPr lang="en-US" b="true" sz="2799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4</a:t>
            </a:r>
            <a:r>
              <a:rPr lang="en-US" b="true" sz="2799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COOH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560873" y="2840558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AutoShape 62" id="62"/>
          <p:cNvSpPr/>
          <p:nvPr/>
        </p:nvSpPr>
        <p:spPr>
          <a:xfrm flipV="true">
            <a:off x="5276555" y="2540920"/>
            <a:ext cx="0" cy="17705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3" id="63"/>
          <p:cNvSpPr txBox="true"/>
          <p:nvPr/>
        </p:nvSpPr>
        <p:spPr>
          <a:xfrm rot="0">
            <a:off x="5204217" y="2296121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grpSp>
        <p:nvGrpSpPr>
          <p:cNvPr name="Group 64" id="64"/>
          <p:cNvGrpSpPr/>
          <p:nvPr/>
        </p:nvGrpSpPr>
        <p:grpSpPr>
          <a:xfrm rot="-3246738">
            <a:off x="5075080" y="2252861"/>
            <a:ext cx="57226" cy="180780"/>
            <a:chOff x="0" y="0"/>
            <a:chExt cx="76302" cy="241040"/>
          </a:xfrm>
        </p:grpSpPr>
        <p:sp>
          <p:nvSpPr>
            <p:cNvPr name="AutoShape 65" id="65"/>
            <p:cNvSpPr/>
            <p:nvPr/>
          </p:nvSpPr>
          <p:spPr>
            <a:xfrm flipH="true" flipV="true">
              <a:off x="11914" y="4661"/>
              <a:ext cx="12787" cy="235733"/>
            </a:xfrm>
            <a:prstGeom prst="line">
              <a:avLst/>
            </a:prstGeom>
            <a:ln cap="flat" w="23862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6" id="66"/>
            <p:cNvSpPr/>
            <p:nvPr/>
          </p:nvSpPr>
          <p:spPr>
            <a:xfrm flipH="true" flipV="true">
              <a:off x="51601" y="646"/>
              <a:ext cx="12787" cy="235733"/>
            </a:xfrm>
            <a:prstGeom prst="line">
              <a:avLst/>
            </a:prstGeom>
            <a:ln cap="flat" w="23862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7" id="67"/>
          <p:cNvSpPr txBox="true"/>
          <p:nvPr/>
        </p:nvSpPr>
        <p:spPr>
          <a:xfrm rot="0">
            <a:off x="4903942" y="2079897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O</a:t>
            </a:r>
          </a:p>
        </p:txBody>
      </p:sp>
      <p:sp>
        <p:nvSpPr>
          <p:cNvPr name="AutoShape 68" id="68"/>
          <p:cNvSpPr/>
          <p:nvPr/>
        </p:nvSpPr>
        <p:spPr>
          <a:xfrm flipV="true">
            <a:off x="5368867" y="2300916"/>
            <a:ext cx="141189" cy="106844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9" id="69"/>
          <p:cNvSpPr txBox="true"/>
          <p:nvPr/>
        </p:nvSpPr>
        <p:spPr>
          <a:xfrm rot="0">
            <a:off x="5524404" y="2098452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O</a:t>
            </a:r>
          </a:p>
        </p:txBody>
      </p:sp>
      <p:sp>
        <p:nvSpPr>
          <p:cNvPr name="AutoShape 70" id="70"/>
          <p:cNvSpPr/>
          <p:nvPr/>
        </p:nvSpPr>
        <p:spPr>
          <a:xfrm flipH="true" flipV="true">
            <a:off x="5589663" y="1959593"/>
            <a:ext cx="0" cy="17705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1" id="71"/>
          <p:cNvSpPr txBox="true"/>
          <p:nvPr/>
        </p:nvSpPr>
        <p:spPr>
          <a:xfrm rot="0">
            <a:off x="5518300" y="1738277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AutoShape 72" id="72"/>
          <p:cNvSpPr/>
          <p:nvPr/>
        </p:nvSpPr>
        <p:spPr>
          <a:xfrm flipV="true">
            <a:off x="5730163" y="2819137"/>
            <a:ext cx="141189" cy="106844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3" id="73"/>
          <p:cNvSpPr txBox="true"/>
          <p:nvPr/>
        </p:nvSpPr>
        <p:spPr>
          <a:xfrm rot="0">
            <a:off x="5902313" y="2657639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O</a:t>
            </a:r>
          </a:p>
        </p:txBody>
      </p:sp>
      <p:sp>
        <p:nvSpPr>
          <p:cNvPr name="AutoShape 74" id="74"/>
          <p:cNvSpPr/>
          <p:nvPr/>
        </p:nvSpPr>
        <p:spPr>
          <a:xfrm flipH="true" flipV="true">
            <a:off x="6072921" y="2820385"/>
            <a:ext cx="147799" cy="97495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5" id="75"/>
          <p:cNvSpPr txBox="true"/>
          <p:nvPr/>
        </p:nvSpPr>
        <p:spPr>
          <a:xfrm rot="0">
            <a:off x="6238495" y="2834401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grpSp>
        <p:nvGrpSpPr>
          <p:cNvPr name="Group 76" id="76"/>
          <p:cNvGrpSpPr/>
          <p:nvPr/>
        </p:nvGrpSpPr>
        <p:grpSpPr>
          <a:xfrm rot="3919998">
            <a:off x="6230701" y="3142467"/>
            <a:ext cx="183704" cy="108076"/>
            <a:chOff x="0" y="0"/>
            <a:chExt cx="244939" cy="144101"/>
          </a:xfrm>
        </p:grpSpPr>
        <p:sp>
          <p:nvSpPr>
            <p:cNvPr name="AutoShape 77" id="77"/>
            <p:cNvSpPr/>
            <p:nvPr/>
          </p:nvSpPr>
          <p:spPr>
            <a:xfrm>
              <a:off x="22962" y="10983"/>
              <a:ext cx="217315" cy="92236"/>
            </a:xfrm>
            <a:prstGeom prst="line">
              <a:avLst/>
            </a:prstGeom>
            <a:ln cap="flat" w="23862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8" id="78"/>
            <p:cNvSpPr/>
            <p:nvPr/>
          </p:nvSpPr>
          <p:spPr>
            <a:xfrm>
              <a:off x="4661" y="40883"/>
              <a:ext cx="217315" cy="92236"/>
            </a:xfrm>
            <a:prstGeom prst="line">
              <a:avLst/>
            </a:prstGeom>
            <a:ln cap="flat" w="23862">
              <a:solidFill>
                <a:srgbClr val="492C18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79" id="79"/>
          <p:cNvSpPr txBox="true"/>
          <p:nvPr/>
        </p:nvSpPr>
        <p:spPr>
          <a:xfrm rot="0">
            <a:off x="6270678" y="3229093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O</a:t>
            </a:r>
          </a:p>
        </p:txBody>
      </p:sp>
      <p:sp>
        <p:nvSpPr>
          <p:cNvPr name="AutoShape 80" id="80"/>
          <p:cNvSpPr/>
          <p:nvPr/>
        </p:nvSpPr>
        <p:spPr>
          <a:xfrm flipH="true" flipV="true">
            <a:off x="5749586" y="3411810"/>
            <a:ext cx="147799" cy="97495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1" id="81"/>
          <p:cNvSpPr txBox="true"/>
          <p:nvPr/>
        </p:nvSpPr>
        <p:spPr>
          <a:xfrm rot="0">
            <a:off x="5927985" y="3383235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AutoShape 82" id="82"/>
          <p:cNvSpPr/>
          <p:nvPr/>
        </p:nvSpPr>
        <p:spPr>
          <a:xfrm flipV="true">
            <a:off x="6373551" y="2833511"/>
            <a:ext cx="141189" cy="106844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3" id="83"/>
          <p:cNvSpPr txBox="true"/>
          <p:nvPr/>
        </p:nvSpPr>
        <p:spPr>
          <a:xfrm rot="0">
            <a:off x="6480029" y="2613406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AutoShape 84" id="84"/>
          <p:cNvSpPr/>
          <p:nvPr/>
        </p:nvSpPr>
        <p:spPr>
          <a:xfrm flipH="true" flipV="true">
            <a:off x="6598514" y="2842601"/>
            <a:ext cx="121825" cy="128486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 flipV="true">
            <a:off x="6572542" y="2514010"/>
            <a:ext cx="50716" cy="16964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 flipH="true">
            <a:off x="6631831" y="2748117"/>
            <a:ext cx="177015" cy="3952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7" id="87"/>
          <p:cNvSpPr txBox="true"/>
          <p:nvPr/>
        </p:nvSpPr>
        <p:spPr>
          <a:xfrm rot="0">
            <a:off x="6635192" y="2314676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6835891" y="2597802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6753677" y="2840558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AutoShape 90" id="90"/>
          <p:cNvSpPr/>
          <p:nvPr/>
        </p:nvSpPr>
        <p:spPr>
          <a:xfrm flipV="true">
            <a:off x="5413767" y="3460762"/>
            <a:ext cx="148323" cy="96697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 flipV="true">
            <a:off x="5352753" y="3690354"/>
            <a:ext cx="0" cy="17705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2" id="92"/>
          <p:cNvSpPr txBox="true"/>
          <p:nvPr/>
        </p:nvSpPr>
        <p:spPr>
          <a:xfrm rot="0">
            <a:off x="5292958" y="3819570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AutoShape 93" id="93"/>
          <p:cNvSpPr/>
          <p:nvPr/>
        </p:nvSpPr>
        <p:spPr>
          <a:xfrm flipH="true">
            <a:off x="4774327" y="3447219"/>
            <a:ext cx="156843" cy="8216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4" id="94"/>
          <p:cNvSpPr txBox="true"/>
          <p:nvPr/>
        </p:nvSpPr>
        <p:spPr>
          <a:xfrm rot="0">
            <a:off x="4617865" y="3404538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AutoShape 95" id="95"/>
          <p:cNvSpPr/>
          <p:nvPr/>
        </p:nvSpPr>
        <p:spPr>
          <a:xfrm flipH="true" flipV="true">
            <a:off x="4734503" y="2985760"/>
            <a:ext cx="168499" cy="5438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6" id="96"/>
          <p:cNvSpPr txBox="true"/>
          <p:nvPr/>
        </p:nvSpPr>
        <p:spPr>
          <a:xfrm rot="0">
            <a:off x="4604035" y="2810804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97" id="97"/>
          <p:cNvSpPr txBox="true"/>
          <p:nvPr/>
        </p:nvSpPr>
        <p:spPr>
          <a:xfrm rot="2898300">
            <a:off x="6039408" y="2543941"/>
            <a:ext cx="124094" cy="26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98" id="98"/>
          <p:cNvSpPr txBox="true"/>
          <p:nvPr/>
        </p:nvSpPr>
        <p:spPr>
          <a:xfrm rot="-2556506">
            <a:off x="5774625" y="2539036"/>
            <a:ext cx="124094" cy="26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99" id="99"/>
          <p:cNvSpPr txBox="true"/>
          <p:nvPr/>
        </p:nvSpPr>
        <p:spPr>
          <a:xfrm rot="6082275">
            <a:off x="6449097" y="3302893"/>
            <a:ext cx="124094" cy="26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100" id="100"/>
          <p:cNvSpPr txBox="true"/>
          <p:nvPr/>
        </p:nvSpPr>
        <p:spPr>
          <a:xfrm rot="-8712355">
            <a:off x="6168957" y="3386591"/>
            <a:ext cx="124094" cy="26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101" id="101"/>
          <p:cNvSpPr txBox="true"/>
          <p:nvPr/>
        </p:nvSpPr>
        <p:spPr>
          <a:xfrm rot="-6689126">
            <a:off x="5550605" y="2111804"/>
            <a:ext cx="124094" cy="26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102" id="102"/>
          <p:cNvSpPr txBox="true"/>
          <p:nvPr/>
        </p:nvSpPr>
        <p:spPr>
          <a:xfrm rot="933914">
            <a:off x="5529766" y="2136824"/>
            <a:ext cx="124094" cy="26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103" id="103"/>
          <p:cNvSpPr txBox="true"/>
          <p:nvPr/>
        </p:nvSpPr>
        <p:spPr>
          <a:xfrm rot="2358386">
            <a:off x="5025227" y="1963420"/>
            <a:ext cx="124094" cy="26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104" id="104"/>
          <p:cNvSpPr txBox="true"/>
          <p:nvPr/>
        </p:nvSpPr>
        <p:spPr>
          <a:xfrm rot="-3502016">
            <a:off x="4752018" y="2010504"/>
            <a:ext cx="124094" cy="26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4965" y="-8322"/>
            <a:ext cx="7789043" cy="7805687"/>
          </a:xfrm>
          <a:custGeom>
            <a:avLst/>
            <a:gdLst/>
            <a:ahLst/>
            <a:cxnLst/>
            <a:rect r="r" b="b" t="t" l="l"/>
            <a:pathLst>
              <a:path h="7805687" w="7789043">
                <a:moveTo>
                  <a:pt x="0" y="0"/>
                </a:moveTo>
                <a:lnTo>
                  <a:pt x="7789043" y="0"/>
                </a:lnTo>
                <a:lnTo>
                  <a:pt x="7789043" y="7805687"/>
                </a:lnTo>
                <a:lnTo>
                  <a:pt x="0" y="7805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460" t="-50154" r="0" b="-4954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76154" y="442677"/>
            <a:ext cx="661827" cy="756374"/>
          </a:xfrm>
          <a:custGeom>
            <a:avLst/>
            <a:gdLst/>
            <a:ahLst/>
            <a:cxnLst/>
            <a:rect r="r" b="b" t="t" l="l"/>
            <a:pathLst>
              <a:path h="756374" w="661827">
                <a:moveTo>
                  <a:pt x="0" y="0"/>
                </a:moveTo>
                <a:lnTo>
                  <a:pt x="661827" y="0"/>
                </a:lnTo>
                <a:lnTo>
                  <a:pt x="661827" y="756374"/>
                </a:lnTo>
                <a:lnTo>
                  <a:pt x="0" y="756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5711" y="1674423"/>
            <a:ext cx="3399849" cy="2483154"/>
            <a:chOff x="0" y="0"/>
            <a:chExt cx="845607" cy="617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5607" cy="617608"/>
            </a:xfrm>
            <a:custGeom>
              <a:avLst/>
              <a:gdLst/>
              <a:ahLst/>
              <a:cxnLst/>
              <a:rect r="r" b="b" t="t" l="l"/>
              <a:pathLst>
                <a:path h="617608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7608"/>
                  </a:lnTo>
                  <a:lnTo>
                    <a:pt x="0" y="617608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45607" cy="646183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39741" y="1674423"/>
            <a:ext cx="3407388" cy="2492679"/>
            <a:chOff x="0" y="0"/>
            <a:chExt cx="847482" cy="6199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7482" cy="619977"/>
            </a:xfrm>
            <a:custGeom>
              <a:avLst/>
              <a:gdLst/>
              <a:ahLst/>
              <a:cxnLst/>
              <a:rect r="r" b="b" t="t" l="l"/>
              <a:pathLst>
                <a:path h="61997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9977"/>
                  </a:lnTo>
                  <a:lnTo>
                    <a:pt x="0" y="61997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47482" cy="64855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31634" y="4581757"/>
            <a:ext cx="3407388" cy="2479494"/>
            <a:chOff x="0" y="0"/>
            <a:chExt cx="847482" cy="6166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7482" cy="616697"/>
            </a:xfrm>
            <a:custGeom>
              <a:avLst/>
              <a:gdLst/>
              <a:ahLst/>
              <a:cxnLst/>
              <a:rect r="r" b="b" t="t" l="l"/>
              <a:pathLst>
                <a:path h="616697" w="847482">
                  <a:moveTo>
                    <a:pt x="0" y="0"/>
                  </a:moveTo>
                  <a:lnTo>
                    <a:pt x="847482" y="0"/>
                  </a:lnTo>
                  <a:lnTo>
                    <a:pt x="847482" y="616697"/>
                  </a:lnTo>
                  <a:lnTo>
                    <a:pt x="0" y="616697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47482" cy="645272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5711" y="4581757"/>
            <a:ext cx="3399849" cy="2465404"/>
            <a:chOff x="0" y="0"/>
            <a:chExt cx="845607" cy="6131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5607" cy="613193"/>
            </a:xfrm>
            <a:custGeom>
              <a:avLst/>
              <a:gdLst/>
              <a:ahLst/>
              <a:cxnLst/>
              <a:rect r="r" b="b" t="t" l="l"/>
              <a:pathLst>
                <a:path h="613193" w="845607">
                  <a:moveTo>
                    <a:pt x="0" y="0"/>
                  </a:moveTo>
                  <a:lnTo>
                    <a:pt x="845607" y="0"/>
                  </a:lnTo>
                  <a:lnTo>
                    <a:pt x="845607" y="613193"/>
                  </a:lnTo>
                  <a:lnTo>
                    <a:pt x="0" y="613193"/>
                  </a:lnTo>
                  <a:close/>
                </a:path>
              </a:pathLst>
            </a:custGeom>
            <a:ln w="28575" cap="sq">
              <a:solidFill>
                <a:srgbClr val="454B1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45607" cy="641768"/>
            </a:xfrm>
            <a:prstGeom prst="rect">
              <a:avLst/>
            </a:prstGeom>
          </p:spPr>
          <p:txBody>
            <a:bodyPr anchor="ctr" rtlCol="false" tIns="36928" lIns="36928" bIns="36928" rIns="36928"/>
            <a:lstStyle/>
            <a:p>
              <a:pPr algn="ctr">
                <a:lnSpc>
                  <a:spcPts val="14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92" y="7283934"/>
            <a:ext cx="7743678" cy="513413"/>
            <a:chOff x="0" y="0"/>
            <a:chExt cx="2108845" cy="1398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08845" cy="139818"/>
            </a:xfrm>
            <a:custGeom>
              <a:avLst/>
              <a:gdLst/>
              <a:ahLst/>
              <a:cxnLst/>
              <a:rect r="r" b="b" t="t" l="l"/>
              <a:pathLst>
                <a:path h="139818" w="2108845">
                  <a:moveTo>
                    <a:pt x="0" y="0"/>
                  </a:moveTo>
                  <a:lnTo>
                    <a:pt x="2108845" y="0"/>
                  </a:lnTo>
                  <a:lnTo>
                    <a:pt x="2108845" y="139818"/>
                  </a:lnTo>
                  <a:lnTo>
                    <a:pt x="0" y="139818"/>
                  </a:lnTo>
                  <a:close/>
                </a:path>
              </a:pathLst>
            </a:custGeom>
            <a:solidFill>
              <a:srgbClr val="454B1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108845" cy="168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2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54759" y="7451105"/>
            <a:ext cx="1248840" cy="179070"/>
            <a:chOff x="0" y="0"/>
            <a:chExt cx="1665120" cy="238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298748" y="-19050"/>
              <a:ext cx="136637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atom count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53998" y="7451105"/>
            <a:ext cx="1023487" cy="179070"/>
            <a:chOff x="0" y="0"/>
            <a:chExt cx="1364649" cy="238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98748" y="-19050"/>
              <a:ext cx="106590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valence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336988" y="7451105"/>
            <a:ext cx="1743397" cy="179070"/>
            <a:chOff x="0" y="0"/>
            <a:chExt cx="2324529" cy="238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connectivity consistent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3404" y="7451105"/>
            <a:ext cx="1743397" cy="179070"/>
            <a:chOff x="0" y="0"/>
            <a:chExt cx="2324529" cy="238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skeletal notation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86650" y="7451105"/>
            <a:ext cx="1743397" cy="179070"/>
            <a:chOff x="0" y="0"/>
            <a:chExt cx="2324529" cy="2387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8119" cy="238760"/>
            </a:xfrm>
            <a:custGeom>
              <a:avLst/>
              <a:gdLst/>
              <a:ahLst/>
              <a:cxnLst/>
              <a:rect r="r" b="b" t="t" l="l"/>
              <a:pathLst>
                <a:path h="238760" w="258119">
                  <a:moveTo>
                    <a:pt x="0" y="0"/>
                  </a:moveTo>
                  <a:lnTo>
                    <a:pt x="258119" y="0"/>
                  </a:lnTo>
                  <a:lnTo>
                    <a:pt x="258119" y="238760"/>
                  </a:lnTo>
                  <a:lnTo>
                    <a:pt x="0" y="23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98748" y="-19050"/>
              <a:ext cx="2025781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679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F7EF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IUPAC name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5400000">
            <a:off x="50538" y="-107429"/>
            <a:ext cx="408442" cy="756374"/>
          </a:xfrm>
          <a:custGeom>
            <a:avLst/>
            <a:gdLst/>
            <a:ahLst/>
            <a:cxnLst/>
            <a:rect r="r" b="b" t="t" l="l"/>
            <a:pathLst>
              <a:path h="756374" w="408442">
                <a:moveTo>
                  <a:pt x="0" y="0"/>
                </a:moveTo>
                <a:lnTo>
                  <a:pt x="408442" y="0"/>
                </a:lnTo>
                <a:lnTo>
                  <a:pt x="408442" y="756374"/>
                </a:lnTo>
                <a:lnTo>
                  <a:pt x="0" y="756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730528" y="4886557"/>
            <a:ext cx="2009600" cy="1944624"/>
          </a:xfrm>
          <a:custGeom>
            <a:avLst/>
            <a:gdLst/>
            <a:ahLst/>
            <a:cxnLst/>
            <a:rect r="r" b="b" t="t" l="l"/>
            <a:pathLst>
              <a:path h="1944624" w="2009600">
                <a:moveTo>
                  <a:pt x="0" y="0"/>
                </a:moveTo>
                <a:lnTo>
                  <a:pt x="2009600" y="0"/>
                </a:lnTo>
                <a:lnTo>
                  <a:pt x="2009600" y="1944624"/>
                </a:lnTo>
                <a:lnTo>
                  <a:pt x="0" y="19446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3272649" y="169038"/>
            <a:ext cx="4394241" cy="56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1"/>
              </a:lnSpc>
              <a:spcBef>
                <a:spcPct val="0"/>
              </a:spcBef>
            </a:pPr>
            <a:r>
              <a:rPr lang="en-US" sz="3258">
                <a:solidFill>
                  <a:srgbClr val="492C18"/>
                </a:solidFill>
                <a:latin typeface="Wide"/>
                <a:ea typeface="Wide"/>
                <a:cs typeface="Wide"/>
                <a:sym typeface="Wide"/>
              </a:rPr>
              <a:t>caffeine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3818" y="1440743"/>
            <a:ext cx="2908830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MOLECULAR FORMULA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046075" y="1440743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LEWIS STRUCTRE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55711" y="4348077"/>
            <a:ext cx="3675923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CONDENSED STRUCTURAL FORMULA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037967" y="4348077"/>
            <a:ext cx="2401055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BOND-LINE FORMULA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9085" y="22807"/>
            <a:ext cx="241482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</a:t>
            </a: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our different chemical languages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898320" y="685402"/>
            <a:ext cx="4608874" cy="68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48"/>
              </a:lnSpc>
              <a:spcBef>
                <a:spcPct val="0"/>
              </a:spcBef>
            </a:pP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affeine is a drug 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of the 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9" tooltip="https://pubchem.ncbi.nlm.nih.gov/compound/methylxanthine"/>
              </a:rPr>
              <a:t>methylxanthine</a:t>
            </a:r>
            <a:r>
              <a:rPr lang="en-US" sz="1320">
                <a:solidFill>
                  <a:srgbClr val="454B1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class used for a variety of purposes, including certain respiratory conditions of the premature newborn, pain relief, and to combat drowsiness.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462409" y="96757"/>
            <a:ext cx="3044785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492C1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IUPAC Name: </a:t>
            </a: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1,3,7-T</a:t>
            </a:r>
            <a:r>
              <a:rPr lang="en-US" b="true" sz="12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rimethylpurine-2,6-dione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-478434" y="2418056"/>
            <a:ext cx="3964066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C₈H₁₀N₄O₂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36137" y="5665611"/>
            <a:ext cx="311670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492C1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CN1C=NC2=C1C(=O)N(C(=O)N2C)C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538614" y="2287116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908451" y="2854410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252859" y="2502253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602004" y="3043267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N</a:t>
            </a:r>
          </a:p>
        </p:txBody>
      </p:sp>
      <p:sp>
        <p:nvSpPr>
          <p:cNvPr name="AutoShape 50" id="50"/>
          <p:cNvSpPr/>
          <p:nvPr/>
        </p:nvSpPr>
        <p:spPr>
          <a:xfrm flipV="true">
            <a:off x="5951024" y="2694497"/>
            <a:ext cx="0" cy="17705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flipV="true">
            <a:off x="5387633" y="2493583"/>
            <a:ext cx="148323" cy="96697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H="true" flipV="true">
            <a:off x="5442501" y="3056765"/>
            <a:ext cx="158829" cy="78252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3" id="53"/>
          <p:cNvSpPr txBox="true"/>
          <p:nvPr/>
        </p:nvSpPr>
        <p:spPr>
          <a:xfrm rot="0">
            <a:off x="5305514" y="2865366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AutoShape 54" id="54"/>
          <p:cNvSpPr/>
          <p:nvPr/>
        </p:nvSpPr>
        <p:spPr>
          <a:xfrm>
            <a:off x="5687151" y="2445364"/>
            <a:ext cx="162986" cy="69177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 flipH="true" flipV="true">
            <a:off x="5304363" y="2750063"/>
            <a:ext cx="9590" cy="17679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flipV="true">
            <a:off x="5723639" y="3030825"/>
            <a:ext cx="148323" cy="96697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7" id="57"/>
          <p:cNvSpPr txBox="true"/>
          <p:nvPr/>
        </p:nvSpPr>
        <p:spPr>
          <a:xfrm rot="0">
            <a:off x="5895271" y="2438270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AutoShape 58" id="58"/>
          <p:cNvSpPr/>
          <p:nvPr/>
        </p:nvSpPr>
        <p:spPr>
          <a:xfrm flipV="true">
            <a:off x="6049018" y="2496271"/>
            <a:ext cx="165227" cy="63640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9" id="59"/>
          <p:cNvSpPr txBox="true"/>
          <p:nvPr/>
        </p:nvSpPr>
        <p:spPr>
          <a:xfrm rot="0">
            <a:off x="6251354" y="2356896"/>
            <a:ext cx="129475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N</a:t>
            </a:r>
          </a:p>
        </p:txBody>
      </p:sp>
      <p:sp>
        <p:nvSpPr>
          <p:cNvPr name="AutoShape 60" id="60"/>
          <p:cNvSpPr/>
          <p:nvPr/>
        </p:nvSpPr>
        <p:spPr>
          <a:xfrm flipH="true" flipV="true">
            <a:off x="6415278" y="2514208"/>
            <a:ext cx="139388" cy="109183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1" id="61"/>
          <p:cNvSpPr txBox="true"/>
          <p:nvPr/>
        </p:nvSpPr>
        <p:spPr>
          <a:xfrm rot="0">
            <a:off x="6510587" y="2610515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AutoShape 62" id="62"/>
          <p:cNvSpPr/>
          <p:nvPr/>
        </p:nvSpPr>
        <p:spPr>
          <a:xfrm flipH="true" flipV="true">
            <a:off x="6064743" y="3011526"/>
            <a:ext cx="176092" cy="18486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3" id="63"/>
          <p:cNvSpPr txBox="true"/>
          <p:nvPr/>
        </p:nvSpPr>
        <p:spPr>
          <a:xfrm rot="0">
            <a:off x="6279929" y="2854002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N</a:t>
            </a:r>
          </a:p>
        </p:txBody>
      </p:sp>
      <p:sp>
        <p:nvSpPr>
          <p:cNvPr name="AutoShape 64" id="64"/>
          <p:cNvSpPr/>
          <p:nvPr/>
        </p:nvSpPr>
        <p:spPr>
          <a:xfrm flipV="true">
            <a:off x="6351406" y="2255613"/>
            <a:ext cx="88104" cy="153583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5" id="65"/>
          <p:cNvSpPr txBox="true"/>
          <p:nvPr/>
        </p:nvSpPr>
        <p:spPr>
          <a:xfrm rot="0">
            <a:off x="6431342" y="2058878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AutoShape 66" id="66"/>
          <p:cNvSpPr/>
          <p:nvPr/>
        </p:nvSpPr>
        <p:spPr>
          <a:xfrm flipH="true">
            <a:off x="6573101" y="2147835"/>
            <a:ext cx="173548" cy="35086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 flipV="true">
            <a:off x="6523854" y="1959482"/>
            <a:ext cx="50716" cy="169641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 flipH="true" flipV="true">
            <a:off x="6349017" y="1980777"/>
            <a:ext cx="104808" cy="142707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9" id="69"/>
          <p:cNvSpPr txBox="true"/>
          <p:nvPr/>
        </p:nvSpPr>
        <p:spPr>
          <a:xfrm rot="0">
            <a:off x="6574570" y="1714683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764064" y="1986797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214245" y="1770573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AutoShape 72" id="72"/>
          <p:cNvSpPr/>
          <p:nvPr/>
        </p:nvSpPr>
        <p:spPr>
          <a:xfrm flipV="true">
            <a:off x="5687151" y="3288066"/>
            <a:ext cx="0" cy="17705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3" id="73"/>
          <p:cNvSpPr txBox="true"/>
          <p:nvPr/>
        </p:nvSpPr>
        <p:spPr>
          <a:xfrm rot="0">
            <a:off x="5627356" y="3417282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AutoShape 74" id="74"/>
          <p:cNvSpPr/>
          <p:nvPr/>
        </p:nvSpPr>
        <p:spPr>
          <a:xfrm flipH="true" flipV="true">
            <a:off x="5068901" y="2583472"/>
            <a:ext cx="168499" cy="5438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5" id="75"/>
          <p:cNvSpPr txBox="true"/>
          <p:nvPr/>
        </p:nvSpPr>
        <p:spPr>
          <a:xfrm rot="0">
            <a:off x="4938433" y="2408516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C</a:t>
            </a:r>
          </a:p>
        </p:txBody>
      </p:sp>
      <p:sp>
        <p:nvSpPr>
          <p:cNvPr name="AutoShape 76" id="76"/>
          <p:cNvSpPr/>
          <p:nvPr/>
        </p:nvSpPr>
        <p:spPr>
          <a:xfrm flipH="true" flipV="true">
            <a:off x="5592875" y="2151733"/>
            <a:ext cx="5156" cy="176984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flipH="true" flipV="true">
            <a:off x="5618982" y="2154847"/>
            <a:ext cx="5156" cy="176984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8" id="78"/>
          <p:cNvSpPr txBox="true"/>
          <p:nvPr/>
        </p:nvSpPr>
        <p:spPr>
          <a:xfrm rot="-10800000">
            <a:off x="5581997" y="1957858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O</a:t>
            </a:r>
          </a:p>
        </p:txBody>
      </p:sp>
      <p:sp>
        <p:nvSpPr>
          <p:cNvPr name="TextBox 79" id="79"/>
          <p:cNvSpPr txBox="true"/>
          <p:nvPr/>
        </p:nvSpPr>
        <p:spPr>
          <a:xfrm rot="-4717724">
            <a:off x="5364630" y="1868234"/>
            <a:ext cx="124094" cy="26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80" id="80"/>
          <p:cNvSpPr txBox="true"/>
          <p:nvPr/>
        </p:nvSpPr>
        <p:spPr>
          <a:xfrm rot="2087644">
            <a:off x="5644769" y="1784535"/>
            <a:ext cx="124094" cy="26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AutoShape 81" id="81"/>
          <p:cNvSpPr/>
          <p:nvPr/>
        </p:nvSpPr>
        <p:spPr>
          <a:xfrm flipH="true">
            <a:off x="5136160" y="3060259"/>
            <a:ext cx="146281" cy="9975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flipH="true">
            <a:off x="5118170" y="3036355"/>
            <a:ext cx="146281" cy="9975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3" id="83"/>
          <p:cNvSpPr txBox="true"/>
          <p:nvPr/>
        </p:nvSpPr>
        <p:spPr>
          <a:xfrm rot="-6425611">
            <a:off x="4965859" y="3074055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O</a:t>
            </a:r>
          </a:p>
        </p:txBody>
      </p:sp>
      <p:sp>
        <p:nvSpPr>
          <p:cNvPr name="TextBox 84" id="84"/>
          <p:cNvSpPr txBox="true"/>
          <p:nvPr/>
        </p:nvSpPr>
        <p:spPr>
          <a:xfrm rot="-4067224">
            <a:off x="4801243" y="2963513"/>
            <a:ext cx="124094" cy="26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85" id="85"/>
          <p:cNvSpPr txBox="true"/>
          <p:nvPr/>
        </p:nvSpPr>
        <p:spPr>
          <a:xfrm rot="-9927628">
            <a:off x="4926552" y="3210814"/>
            <a:ext cx="124094" cy="26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AutoShape 86" id="86"/>
          <p:cNvSpPr/>
          <p:nvPr/>
        </p:nvSpPr>
        <p:spPr>
          <a:xfrm flipV="true">
            <a:off x="5984072" y="2694497"/>
            <a:ext cx="0" cy="17705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 flipH="true">
            <a:off x="6441451" y="2859502"/>
            <a:ext cx="129762" cy="120465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flipV="true">
            <a:off x="6421713" y="2834128"/>
            <a:ext cx="130537" cy="119625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 flipH="true">
            <a:off x="6675584" y="2747085"/>
            <a:ext cx="176959" cy="5957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0" id="90"/>
          <p:cNvSpPr txBox="true"/>
          <p:nvPr/>
        </p:nvSpPr>
        <p:spPr>
          <a:xfrm rot="0">
            <a:off x="6910014" y="2589329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AutoShape 91" id="91"/>
          <p:cNvSpPr/>
          <p:nvPr/>
        </p:nvSpPr>
        <p:spPr>
          <a:xfrm flipV="true">
            <a:off x="5695947" y="3662081"/>
            <a:ext cx="0" cy="17705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 flipV="true">
            <a:off x="5509630" y="3608528"/>
            <a:ext cx="114069" cy="135419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flipH="true" flipV="true">
            <a:off x="5767127" y="3613904"/>
            <a:ext cx="99929" cy="146165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4" id="94"/>
          <p:cNvSpPr txBox="true"/>
          <p:nvPr/>
        </p:nvSpPr>
        <p:spPr>
          <a:xfrm rot="0">
            <a:off x="5357354" y="3623381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667143" y="3810566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5895271" y="3623381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AutoShape 97" id="97"/>
          <p:cNvSpPr/>
          <p:nvPr/>
        </p:nvSpPr>
        <p:spPr>
          <a:xfrm flipH="true" flipV="true">
            <a:off x="4780921" y="2355419"/>
            <a:ext cx="118228" cy="131804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8" id="98"/>
          <p:cNvSpPr/>
          <p:nvPr/>
        </p:nvSpPr>
        <p:spPr>
          <a:xfrm flipH="true" flipV="true">
            <a:off x="4961287" y="2268050"/>
            <a:ext cx="10210" cy="176765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9" id="99"/>
          <p:cNvSpPr/>
          <p:nvPr/>
        </p:nvSpPr>
        <p:spPr>
          <a:xfrm flipH="true" flipV="true">
            <a:off x="4693006" y="2534789"/>
            <a:ext cx="175830" cy="20828"/>
          </a:xfrm>
          <a:prstGeom prst="line">
            <a:avLst/>
          </a:prstGeom>
          <a:ln cap="flat" w="19050">
            <a:solidFill>
              <a:srgbClr val="492C1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0" id="100"/>
          <p:cNvSpPr txBox="true"/>
          <p:nvPr/>
        </p:nvSpPr>
        <p:spPr>
          <a:xfrm rot="0">
            <a:off x="4918714" y="2028691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4669318" y="2100547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4540064" y="2373105"/>
            <a:ext cx="85146" cy="2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  <a:spcBef>
                <a:spcPct val="0"/>
              </a:spcBef>
            </a:pPr>
            <a:r>
              <a:rPr lang="en-US" sz="1427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H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436137" y="4620980"/>
            <a:ext cx="3238997" cy="68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20"/>
              </a:lnSpc>
              <a:spcBef>
                <a:spcPct val="0"/>
              </a:spcBef>
            </a:pPr>
            <a:r>
              <a:rPr lang="en-US" sz="800">
                <a:solidFill>
                  <a:srgbClr val="FF313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Caffeine does n</a:t>
            </a:r>
            <a:r>
              <a:rPr lang="en-US" sz="800">
                <a:solidFill>
                  <a:srgbClr val="FF313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ot have a simple, widely accepted condensed structural formula. Therefore, its structure may be represented using a structural diagram or SMILES notation. SMILES is a notation used to describe a molecule's structure and is not the same as a condensed structural formula.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479706" y="5569514"/>
            <a:ext cx="1076333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  <a:spcBef>
                <a:spcPct val="0"/>
              </a:spcBef>
            </a:pPr>
            <a:r>
              <a:rPr lang="en-US" sz="800">
                <a:solidFill>
                  <a:srgbClr val="454B1F"/>
                </a:solidFill>
                <a:latin typeface="Bernoru"/>
                <a:ea typeface="Bernoru"/>
                <a:cs typeface="Bernoru"/>
                <a:sym typeface="Bernoru"/>
              </a:rPr>
              <a:t>SMIlLES Notation:</a:t>
            </a:r>
          </a:p>
        </p:txBody>
      </p:sp>
      <p:sp>
        <p:nvSpPr>
          <p:cNvPr name="TextBox 105" id="105"/>
          <p:cNvSpPr txBox="true"/>
          <p:nvPr/>
        </p:nvSpPr>
        <p:spPr>
          <a:xfrm rot="-1497015">
            <a:off x="6149228" y="2181133"/>
            <a:ext cx="124094" cy="26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6279929" y="2666239"/>
            <a:ext cx="124094" cy="26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5252859" y="2322849"/>
            <a:ext cx="124094" cy="26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5601329" y="2866898"/>
            <a:ext cx="124094" cy="26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6"/>
              </a:lnSpc>
              <a:spcBef>
                <a:spcPct val="0"/>
              </a:spcBef>
            </a:pPr>
            <a:r>
              <a:rPr lang="en-US" sz="1468">
                <a:solidFill>
                  <a:srgbClr val="492C18"/>
                </a:solidFill>
                <a:latin typeface="Bernoru"/>
                <a:ea typeface="Bernoru"/>
                <a:cs typeface="Bernoru"/>
                <a:sym typeface="Bernoru"/>
              </a:rPr>
              <a:t>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DAHYBwUhZMI</dc:identifier>
  <dcterms:modified xsi:type="dcterms:W3CDTF">2011-08-01T06:04:30Z</dcterms:modified>
  <cp:revision>1</cp:revision>
  <dc:title>002_molecule_representation_portfolio_santos</dc:title>
</cp:coreProperties>
</file>